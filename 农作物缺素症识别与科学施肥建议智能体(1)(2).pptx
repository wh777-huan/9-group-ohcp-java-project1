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1" r:id="rId19"/>
    <p:sldId id="270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开场 30 秒：一句话讲清项目——给农作物做“体检”，输入症状输出施肥方案。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强调两大底线：知识库完全自建可追溯；无大模型 Key 也能完整演示。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 60 秒：先用一句话让评委建立整体认知——输入症状、输出方案、知识库自建。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01-05 对应后面的详细页，是整份 deck 的目录骨架，逐条点到即可。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 40 秒：三个痛点各说一句——识别靠经验、施肥凭感觉、工具不在手边。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结尾收束到解决方向，为第 4 页架构做铺垫。不引用未经核实的统计数据。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 40 秒：五步讲清识别链路，重点强调第 5 步的可解释性——每个候选都带命中关键词。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这是与“直接问大模型”的关键差异：本地计算、依据可见、可复核。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 60 秒：两个实测并排展示。水稻缺氮 Top-1 命中 4 词得 99%；玉米新叶失绿三元素 99/98/94 梯度区分。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强调置信度来自本地检索而非大模型，并预告创新 03 的风险预警。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 60 秒：上排六层结构一览，下排双模板对照摘录。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 organic 与 safety 呼应化肥减量与绿色农业，为思政页铺垫；双模板是创新点 1。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 50 秒：讲清检索机制。分词策略 + TF-IDF 权重 + 余弦相似度，三个要点。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强调零外部依赖：这是全流程不依赖网络、不依赖大模型的关键设计。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 60 秒：上排五节点链路讲 RAG 编排，下排表格讲三态降级。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核心话术：LLM 只整理不编造；三种状态下演示都能跑通，这是工程可靠性卖点。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 40 秒：三种融入形式 + 一段真实摘录，说明思政是产品设计的一部分而非外挂。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强调“不弹窗、不打断”，满足需求文档对思政呈现方式的要求。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 60 秒：四项创新点总览表格，逐行点读。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强调每项都来自真实实现（TemplateRenderer / scienceCard / 环境词库 / /api/stats），呼应需求文档硬性要求。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 50 秒：左右两栏给出四项创新的代码位置与实测数据。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用 mono 代码风格增强可信度：创新点是跑出来的，不是画出来的。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 60 秒：左边启动三步，右边验收清单，下方仓库信息。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强调无需安装依赖即可现场演示；诚实说明 Key 配置边界，但三态降级保证演示不断。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本页 40 秒：左三结论右四规划，收尾点题“科技助农、藏粮于技”。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面向评委：项目已闭环可落地，路线图清晰，后续可延伸视觉与物联网。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2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12" b="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D2A16">
                  <a:alpha val="85000"/>
                </a:srgbClr>
              </a:gs>
              <a:gs pos="45000">
                <a:srgbClr val="0D2A16">
                  <a:alpha val="38000"/>
                </a:srgbClr>
              </a:gs>
              <a:gs pos="100000">
                <a:srgbClr val="0D2A16">
                  <a:alpha val="4000"/>
                </a:srgbClr>
              </a:gs>
            </a:gsLst>
            <a:lin ang="6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14400" y="635000"/>
            <a:ext cx="76200" cy="812800"/>
          </a:xfrm>
          <a:prstGeom prst="roundRect">
            <a:avLst>
              <a:gd name="adj" fmla="val 0"/>
            </a:avLst>
          </a:prstGeom>
          <a:solidFill>
            <a:srgbClr val="81C78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 txBox="1"/>
          <p:nvPr/>
        </p:nvSpPr>
        <p:spPr>
          <a:xfrm>
            <a:off x="1193800" y="584200"/>
            <a:ext cx="10160000" cy="914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农作物缺素症识别与科学施肥建议智能体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193800" y="15748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E8F0E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OHCP 一小时智能编程大赛 · 参赛作品 · 2026年10月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93800" y="3759200"/>
            <a:ext cx="914400" cy="38100"/>
          </a:xfrm>
          <a:prstGeom prst="roundRect">
            <a:avLst>
              <a:gd name="adj" fmla="val 0"/>
            </a:avLst>
          </a:prstGeom>
          <a:solidFill>
            <a:srgbClr val="81C78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1193800" y="4089400"/>
            <a:ext cx="965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7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输入作物叶片症状，输出缺素多候选识别与置信度排序、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分层科学施肥建议与养分风险提示，</a:t>
            </a:r>
            <a:endParaRPr lang="en-US" sz="17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7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全程基于自建爬虫知识库的 RAG 检索增强，不依赖大模型自由发挥。</a:t>
            </a:r>
            <a:endParaRPr lang="en-US" sz="1700" b="0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1193800" y="60452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CDE1D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技术栈：Spring Boot 3.5.4 · langchain4j 1.20.2 · 自建知识库 RAG · 原生 HTML/CSS/JS 前端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457200"/>
            <a:ext cx="152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01 / OVERVIEW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11200" y="8382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27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一句话讲清：识别 + 建议全程闭环，知识库自建可追溯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1543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11200" y="1905000"/>
            <a:ext cx="50800" cy="2667000"/>
          </a:xfrm>
          <a:prstGeom prst="roundRect">
            <a:avLst>
              <a:gd name="adj" fmla="val 0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1066800" y="1905000"/>
            <a:ext cx="4572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给农作物做“体检”：输入症状 → 输出多候选缺素识别、分层施肥建议与风险提示。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20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每一步都基于自建爬虫知识库检索；大模型只做可选整理，不自由发挥。</a:t>
            </a:r>
            <a:endParaRPr lang="en-US" sz="20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5969000" y="1905000"/>
            <a:ext cx="5511800" cy="381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5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r>
              <a:rPr lang="en-US" sz="15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自建知识库：12 类缺素、爬虫增量构建，禁止纯大模型输出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5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r>
              <a:rPr lang="en-US" sz="15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本地检索：中文 TF-IDF + 余弦相似度，零外部依赖</a:t>
            </a:r>
            <a:endParaRPr lang="en-US" sz="15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5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r>
              <a:rPr lang="en-US" sz="15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多候选识别：置信度排序 + 命中关键词依据</a:t>
            </a:r>
            <a:endParaRPr lang="en-US" sz="15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5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r>
              <a:rPr lang="en-US" sz="15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四维施肥建议 + 缺素科普卡 + 养分风险预警</a:t>
            </a:r>
            <a:endParaRPr lang="en-US" sz="15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13000"/>
              </a:lnSpc>
            </a:pPr>
            <a:r>
              <a:rPr lang="en-US" sz="15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r>
              <a:rPr lang="en-US" sz="15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· 无 Key 自动降级：规则渲染兜底，现场演示不断链</a:t>
            </a:r>
            <a:endParaRPr lang="en-US" sz="15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8" name="Connector 8"/>
          <p:cNvCxnSpPr/>
          <p:nvPr/>
        </p:nvCxnSpPr>
        <p:spPr>
          <a:xfrm rot="-4053">
            <a:off x="711204" y="6038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711200" y="6172200"/>
            <a:ext cx="10769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证据：28 个文件 · 2982 行代码 · 12 类缺素知识 · 本地接口实测通过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711200" y="6502400"/>
            <a:ext cx="10769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来源：项目源码统计与本地接口实测，2026-10-21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457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02 / PAIN POINTS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11200" y="8382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27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盲目施肥是真实痛点：识别靠经验、方案靠习惯、工具在别处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1543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11200" y="1905000"/>
            <a:ext cx="3429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识别难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2732">
            <a:off x="711212" y="2381250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E7D3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 txBox="1"/>
          <p:nvPr/>
        </p:nvSpPr>
        <p:spPr>
          <a:xfrm>
            <a:off x="711200" y="2590800"/>
            <a:ext cx="3429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4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缺素症状高度相似：缺氮与缺镁都从老叶发黄，缺铁与缺锌都表现在新叶。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4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田间识别主要靠肉眼经验，新手农户与返乡创业者难以准确判断。</a:t>
            </a:r>
            <a:endParaRPr lang="en-US" sz="14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4445000" y="1905000"/>
            <a:ext cx="3429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施肥盲目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12732">
            <a:off x="4445012" y="2381250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E7D3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" name="AutoShape 10"/>
          <p:cNvSpPr txBox="1"/>
          <p:nvPr/>
        </p:nvSpPr>
        <p:spPr>
          <a:xfrm>
            <a:off x="4445000" y="2590800"/>
            <a:ext cx="3429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4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“凭感觉”大量施肥：成本上升、土壤板结酸化、氮磷随水流失形成面源污染。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4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缺什么、补多少、怎么补没有依据，越种越差的恶性循环难打破。</a:t>
            </a:r>
            <a:endParaRPr lang="en-US" sz="14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 txBox="1"/>
          <p:nvPr/>
        </p:nvSpPr>
        <p:spPr>
          <a:xfrm>
            <a:off x="8178800" y="1905000"/>
            <a:ext cx="3429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E7D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工具缺失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2732">
            <a:off x="8178812" y="2381250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E7D32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3" name="AutoShape 13"/>
          <p:cNvSpPr txBox="1"/>
          <p:nvPr/>
        </p:nvSpPr>
        <p:spPr>
          <a:xfrm>
            <a:off x="8178800" y="2590800"/>
            <a:ext cx="3429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4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基层农技人员覆盖不足，农户缺少可随身使用的诊断工具。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4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相关知识分散在各农技门户网站，检索、阅读、落地成本高。</a:t>
            </a:r>
            <a:endParaRPr lang="en-US" sz="14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4" name="Connector 14"/>
          <p:cNvCxnSpPr/>
          <p:nvPr/>
        </p:nvCxnSpPr>
        <p:spPr>
          <a:xfrm rot="-4053">
            <a:off x="711204" y="53784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711200" y="5588000"/>
            <a:ext cx="10769600" cy="558800"/>
          </a:xfrm>
          <a:prstGeom prst="roundRect">
            <a:avLst>
              <a:gd name="adj" fmla="val 13636"/>
            </a:avLst>
          </a:prstGeom>
          <a:solidFill>
            <a:srgbClr val="E8F0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965200" y="56896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解决方向：一个随身智能体——本地知识库检索 + 分层施肥建议，识别有依据、建议可追溯。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711200" y="6502400"/>
            <a:ext cx="10769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知识内容整理自中国农业农村信息网、全国农技推广网等公开网站（爬虫采集），具体站点见知识库构建页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4572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03 / ARCHITECTURE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11200" y="8382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26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三层架构：前端输入 → 智能体编排 → 本地知识库检索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1543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11200" y="6350000"/>
            <a:ext cx="10769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 1 · 系统总体架构与数据流：LLM 仅做可选整理，不可用时自动降级规则渲染，不阻塞演示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11200" y="6604000"/>
            <a:ext cx="10769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来源：项目源码实现；接口 /api/analyze、/api/health 实测通过，2026-10-21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47700" y="2279650"/>
            <a:ext cx="2514600" cy="774700"/>
          </a:xfrm>
          <a:prstGeom prst="roundRect">
            <a:avLst>
              <a:gd name="adj" fmla="val 131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877570" y="2404110"/>
            <a:ext cx="205613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 · 原生 HTML/CSS/JS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981710" y="2594610"/>
            <a:ext cx="184658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症状输入 · farmer/tech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638300" y="2785110"/>
            <a:ext cx="5334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双模式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787140" y="2184400"/>
            <a:ext cx="2331720" cy="965200"/>
          </a:xfrm>
          <a:prstGeom prst="roundRect">
            <a:avLst>
              <a:gd name="adj" fmla="val 1052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4523740" y="2308860"/>
            <a:ext cx="85852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REST 接口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4231640" y="2499360"/>
            <a:ext cx="144272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POST /api/analyze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4193540" y="2689860"/>
            <a:ext cx="151892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GET /api/health · /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4564380" y="2880360"/>
            <a:ext cx="77724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api/stats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028180" y="2279650"/>
            <a:ext cx="2453640" cy="774700"/>
          </a:xfrm>
          <a:prstGeom prst="roundRect">
            <a:avLst>
              <a:gd name="adj" fmla="val 13114"/>
            </a:avLst>
          </a:prstGeom>
          <a:solidFill>
            <a:srgbClr val="2E7D32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7298690" y="2404110"/>
            <a:ext cx="191262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AgentService 智能体编排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7316470" y="2594610"/>
            <a:ext cx="187579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RAG 检索增强 · 风险预警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7198360" y="2785110"/>
            <a:ext cx="211201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双模板渲染 · 思政随业务输出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3987800" y="3778250"/>
            <a:ext cx="2438400" cy="774700"/>
          </a:xfrm>
          <a:prstGeom prst="roundRect">
            <a:avLst>
              <a:gd name="adj" fmla="val 131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 txBox="1"/>
          <p:nvPr/>
        </p:nvSpPr>
        <p:spPr>
          <a:xfrm>
            <a:off x="4550410" y="3902710"/>
            <a:ext cx="131318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VectorRetrieval</a:t>
            </a:r>
            <a:endParaRPr lang="en-US" sz="1100"/>
          </a:p>
        </p:txBody>
      </p:sp>
      <p:sp>
        <p:nvSpPr>
          <p:cNvPr id="22" name="AutoShape 22"/>
          <p:cNvSpPr txBox="1"/>
          <p:nvPr/>
        </p:nvSpPr>
        <p:spPr>
          <a:xfrm>
            <a:off x="4251960" y="4093210"/>
            <a:ext cx="191008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中文 TF-IDF + 余弦相似度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4455160" y="4283710"/>
            <a:ext cx="150241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纯本地 · 零外部依赖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712960" y="3778250"/>
            <a:ext cx="2164080" cy="774700"/>
          </a:xfrm>
          <a:prstGeom prst="roundRect">
            <a:avLst>
              <a:gd name="adj" fmla="val 13114"/>
            </a:avLst>
          </a:prstGeom>
          <a:solidFill>
            <a:srgbClr val="E8F0E9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 txBox="1"/>
          <p:nvPr/>
        </p:nvSpPr>
        <p:spPr>
          <a:xfrm>
            <a:off x="10182860" y="3902710"/>
            <a:ext cx="122555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knowledge.json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9927590" y="4093210"/>
            <a:ext cx="173609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 类缺素 · 症状关键词</a:t>
            </a:r>
            <a:endParaRPr lang="en-US" sz="1100"/>
          </a:p>
        </p:txBody>
      </p:sp>
      <p:sp>
        <p:nvSpPr>
          <p:cNvPr id="27" name="AutoShape 27"/>
          <p:cNvSpPr txBox="1"/>
          <p:nvPr/>
        </p:nvSpPr>
        <p:spPr>
          <a:xfrm>
            <a:off x="9925050" y="4283710"/>
            <a:ext cx="17399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建议四维 · 科普 · 思政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714230" y="4970780"/>
            <a:ext cx="2162810" cy="726440"/>
          </a:xfrm>
          <a:prstGeom prst="roundRect">
            <a:avLst>
              <a:gd name="adj" fmla="val 1398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8A8F94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 txBox="1"/>
          <p:nvPr/>
        </p:nvSpPr>
        <p:spPr>
          <a:xfrm>
            <a:off x="10213340" y="5092700"/>
            <a:ext cx="1163320" cy="13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Python 爬虫管线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9951720" y="5267960"/>
            <a:ext cx="1687830" cy="13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 · 清洗 · 切片 · 分</a:t>
            </a:r>
            <a:endParaRPr lang="en-US" sz="1100"/>
          </a:p>
        </p:txBody>
      </p:sp>
      <p:sp>
        <p:nvSpPr>
          <p:cNvPr id="31" name="AutoShape 31"/>
          <p:cNvSpPr txBox="1"/>
          <p:nvPr/>
        </p:nvSpPr>
        <p:spPr>
          <a:xfrm>
            <a:off x="10316210" y="5441950"/>
            <a:ext cx="958850" cy="13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 · 增量合并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718300" y="4970780"/>
            <a:ext cx="2819400" cy="726440"/>
          </a:xfrm>
          <a:prstGeom prst="roundRect">
            <a:avLst>
              <a:gd name="adj" fmla="val 1398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8A8F94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 txBox="1"/>
          <p:nvPr/>
        </p:nvSpPr>
        <p:spPr>
          <a:xfrm>
            <a:off x="7132320" y="5092700"/>
            <a:ext cx="1992630" cy="13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langchain4j · DeepSeek（可</a:t>
            </a:r>
            <a:endParaRPr lang="en-US" sz="1100"/>
          </a:p>
        </p:txBody>
      </p:sp>
      <p:sp>
        <p:nvSpPr>
          <p:cNvPr id="34" name="AutoShape 34"/>
          <p:cNvSpPr txBox="1"/>
          <p:nvPr/>
        </p:nvSpPr>
        <p:spPr>
          <a:xfrm>
            <a:off x="7952740" y="5267960"/>
            <a:ext cx="349250" cy="13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选）</a:t>
            </a:r>
            <a:endParaRPr lang="en-US" sz="1100"/>
          </a:p>
        </p:txBody>
      </p:sp>
      <p:sp>
        <p:nvSpPr>
          <p:cNvPr id="35" name="AutoShape 35"/>
          <p:cNvSpPr txBox="1"/>
          <p:nvPr/>
        </p:nvSpPr>
        <p:spPr>
          <a:xfrm>
            <a:off x="7005320" y="5441950"/>
            <a:ext cx="2245360" cy="139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 Key / 失败 → 自动降级规则渲染</a:t>
            </a:r>
            <a:endParaRPr lang="en-US" sz="1100"/>
          </a:p>
        </p:txBody>
      </p:sp>
      <p:cxnSp>
        <p:nvCxnSpPr>
          <p:cNvPr id="36" name="Connector 36"/>
          <p:cNvCxnSpPr/>
          <p:nvPr/>
        </p:nvCxnSpPr>
        <p:spPr>
          <a:xfrm rot="-69863">
            <a:off x="3162365" y="2660650"/>
            <a:ext cx="62484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E7D32">
                <a:alpha val="100000"/>
              </a:srgbClr>
            </a:solidFill>
            <a:prstDash val="solid"/>
            <a:miter lim="4700000"/>
            <a:headEnd type="none" w="lg" len="lg"/>
            <a:tailEnd type="none" w="lg" len="lg"/>
          </a:ln>
        </p:spPr>
      </p:cxnSp>
      <p:sp>
        <p:nvSpPr>
          <p:cNvPr id="37" name="Freeform 37"/>
          <p:cNvSpPr/>
          <p:nvPr/>
        </p:nvSpPr>
        <p:spPr>
          <a:xfrm>
            <a:off x="3684270" y="26098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2E7D32">
              <a:alpha val="100000"/>
            </a:srgbClr>
          </a:solidFill>
          <a:ln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38" name="Connector 38"/>
          <p:cNvCxnSpPr/>
          <p:nvPr/>
        </p:nvCxnSpPr>
        <p:spPr>
          <a:xfrm rot="-48010">
            <a:off x="6118904" y="2660650"/>
            <a:ext cx="90932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E7D32">
                <a:alpha val="100000"/>
              </a:srgbClr>
            </a:solidFill>
            <a:prstDash val="solid"/>
            <a:miter lim="4700000"/>
            <a:headEnd type="none" w="lg" len="lg"/>
            <a:tailEnd type="none" w="lg" len="lg"/>
          </a:ln>
        </p:spPr>
      </p:cxnSp>
      <p:sp>
        <p:nvSpPr>
          <p:cNvPr id="39" name="Freeform 39"/>
          <p:cNvSpPr/>
          <p:nvPr/>
        </p:nvSpPr>
        <p:spPr>
          <a:xfrm>
            <a:off x="6925310" y="26098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2E7D32">
              <a:alpha val="100000"/>
            </a:srgbClr>
          </a:solidFill>
          <a:ln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0" name="Freeform 40"/>
          <p:cNvSpPr/>
          <p:nvPr/>
        </p:nvSpPr>
        <p:spPr>
          <a:xfrm>
            <a:off x="5207000" y="3060700"/>
            <a:ext cx="3048000" cy="711200"/>
          </a:xfrm>
          <a:custGeom>
            <a:avLst/>
            <a:gdLst/>
            <a:ahLst/>
            <a:cxnLst/>
            <a:rect l="l" t="t" r="r" b="b"/>
            <a:pathLst>
              <a:path w="3048000" h="711200">
                <a:moveTo>
                  <a:pt x="3048000" y="0"/>
                </a:moveTo>
                <a:lnTo>
                  <a:pt x="3048000" y="406400"/>
                </a:lnTo>
                <a:lnTo>
                  <a:pt x="0" y="406400"/>
                </a:lnTo>
                <a:lnTo>
                  <a:pt x="0" y="711200"/>
                </a:lnTo>
              </a:path>
            </a:pathLst>
          </a:custGeom>
          <a:solidFill>
            <a:srgbClr val="000000">
              <a:alpha val="0"/>
            </a:srgbClr>
          </a:solidFill>
          <a:ln w="25400" cap="flat" cmpd="sng">
            <a:solidFill>
              <a:srgbClr val="2E7D32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Freeform 41"/>
          <p:cNvSpPr/>
          <p:nvPr/>
        </p:nvSpPr>
        <p:spPr>
          <a:xfrm>
            <a:off x="5149850" y="366903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114300" y="0"/>
                </a:moveTo>
                <a:lnTo>
                  <a:pt x="57150" y="114300"/>
                </a:lnTo>
                <a:lnTo>
                  <a:pt x="0" y="0"/>
                </a:lnTo>
                <a:close/>
              </a:path>
            </a:pathLst>
          </a:custGeom>
          <a:solidFill>
            <a:srgbClr val="2E7D32">
              <a:alpha val="100000"/>
            </a:srgbClr>
          </a:solidFill>
          <a:ln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42" name="Connector 42"/>
          <p:cNvCxnSpPr/>
          <p:nvPr/>
        </p:nvCxnSpPr>
        <p:spPr>
          <a:xfrm rot="-13283">
            <a:off x="6426212" y="4159250"/>
            <a:ext cx="328676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E7D32">
                <a:alpha val="100000"/>
              </a:srgbClr>
            </a:solidFill>
            <a:prstDash val="solid"/>
            <a:miter lim="4700000"/>
            <a:headEnd type="none" w="lg" len="lg"/>
            <a:tailEnd type="none" w="lg" len="lg"/>
          </a:ln>
        </p:spPr>
      </p:cxnSp>
      <p:sp>
        <p:nvSpPr>
          <p:cNvPr id="43" name="Freeform 43"/>
          <p:cNvSpPr/>
          <p:nvPr/>
        </p:nvSpPr>
        <p:spPr>
          <a:xfrm>
            <a:off x="9610090" y="41084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2E7D32">
              <a:alpha val="100000"/>
            </a:srgbClr>
          </a:solidFill>
          <a:ln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4" name="Freeform 44"/>
          <p:cNvSpPr/>
          <p:nvPr/>
        </p:nvSpPr>
        <p:spPr>
          <a:xfrm>
            <a:off x="8128000" y="3060700"/>
            <a:ext cx="127000" cy="1903476"/>
          </a:xfrm>
          <a:custGeom>
            <a:avLst/>
            <a:gdLst/>
            <a:ahLst/>
            <a:cxnLst/>
            <a:rect l="l" t="t" r="r" b="b"/>
            <a:pathLst>
              <a:path w="127000" h="1903476">
                <a:moveTo>
                  <a:pt x="127000" y="0"/>
                </a:moveTo>
                <a:lnTo>
                  <a:pt x="127000" y="60960"/>
                </a:lnTo>
                <a:moveTo>
                  <a:pt x="127000" y="111760"/>
                </a:moveTo>
                <a:lnTo>
                  <a:pt x="127000" y="172720"/>
                </a:lnTo>
                <a:moveTo>
                  <a:pt x="127000" y="223520"/>
                </a:moveTo>
                <a:lnTo>
                  <a:pt x="127000" y="284480"/>
                </a:lnTo>
                <a:moveTo>
                  <a:pt x="127000" y="335280"/>
                </a:moveTo>
                <a:lnTo>
                  <a:pt x="127000" y="396240"/>
                </a:lnTo>
                <a:moveTo>
                  <a:pt x="127000" y="447040"/>
                </a:moveTo>
                <a:lnTo>
                  <a:pt x="127000" y="508000"/>
                </a:lnTo>
                <a:moveTo>
                  <a:pt x="127000" y="558800"/>
                </a:moveTo>
                <a:lnTo>
                  <a:pt x="127000" y="619760"/>
                </a:lnTo>
                <a:moveTo>
                  <a:pt x="127000" y="670560"/>
                </a:moveTo>
                <a:lnTo>
                  <a:pt x="127000" y="731520"/>
                </a:lnTo>
                <a:moveTo>
                  <a:pt x="127000" y="782320"/>
                </a:moveTo>
                <a:lnTo>
                  <a:pt x="127000" y="843280"/>
                </a:lnTo>
                <a:moveTo>
                  <a:pt x="127000" y="894080"/>
                </a:moveTo>
                <a:lnTo>
                  <a:pt x="127000" y="955040"/>
                </a:lnTo>
                <a:moveTo>
                  <a:pt x="127000" y="1005840"/>
                </a:moveTo>
                <a:lnTo>
                  <a:pt x="127000" y="1066800"/>
                </a:lnTo>
                <a:moveTo>
                  <a:pt x="127000" y="1117600"/>
                </a:moveTo>
                <a:lnTo>
                  <a:pt x="127000" y="1178560"/>
                </a:lnTo>
                <a:moveTo>
                  <a:pt x="127000" y="1229360"/>
                </a:moveTo>
                <a:lnTo>
                  <a:pt x="127000" y="1290320"/>
                </a:lnTo>
                <a:moveTo>
                  <a:pt x="127000" y="1341120"/>
                </a:moveTo>
                <a:lnTo>
                  <a:pt x="127000" y="1402080"/>
                </a:lnTo>
                <a:moveTo>
                  <a:pt x="127000" y="1452880"/>
                </a:moveTo>
                <a:lnTo>
                  <a:pt x="127000" y="1513840"/>
                </a:lnTo>
                <a:moveTo>
                  <a:pt x="127000" y="1564640"/>
                </a:moveTo>
                <a:lnTo>
                  <a:pt x="127000" y="1598549"/>
                </a:lnTo>
                <a:lnTo>
                  <a:pt x="99949" y="1598549"/>
                </a:lnTo>
                <a:moveTo>
                  <a:pt x="49149" y="1598549"/>
                </a:moveTo>
                <a:lnTo>
                  <a:pt x="0" y="1598549"/>
                </a:lnTo>
                <a:lnTo>
                  <a:pt x="0" y="1610360"/>
                </a:lnTo>
                <a:moveTo>
                  <a:pt x="0" y="1661160"/>
                </a:moveTo>
                <a:lnTo>
                  <a:pt x="0" y="1722120"/>
                </a:lnTo>
                <a:moveTo>
                  <a:pt x="0" y="1772920"/>
                </a:moveTo>
                <a:lnTo>
                  <a:pt x="0" y="1833880"/>
                </a:lnTo>
                <a:moveTo>
                  <a:pt x="0" y="1884680"/>
                </a:moveTo>
                <a:lnTo>
                  <a:pt x="0" y="1903476"/>
                </a:lnTo>
              </a:path>
            </a:pathLst>
          </a:custGeom>
          <a:solidFill>
            <a:srgbClr val="000000">
              <a:alpha val="0"/>
            </a:srgbClr>
          </a:solidFill>
          <a:ln w="25400" cap="flat" cmpd="sng">
            <a:solidFill>
              <a:srgbClr val="8A8F94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Freeform 45"/>
          <p:cNvSpPr/>
          <p:nvPr/>
        </p:nvSpPr>
        <p:spPr>
          <a:xfrm>
            <a:off x="8082280" y="4881880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91440" y="0"/>
                </a:moveTo>
                <a:lnTo>
                  <a:pt x="4572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8A8F94">
              <a:alpha val="100000"/>
            </a:srgbClr>
          </a:solidFill>
          <a:ln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6" name="AutoShape 46"/>
          <p:cNvSpPr txBox="1"/>
          <p:nvPr/>
        </p:nvSpPr>
        <p:spPr>
          <a:xfrm>
            <a:off x="6408420" y="3585210"/>
            <a:ext cx="17526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596900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E19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调用 · 失败自动降级</a:t>
            </a:r>
            <a:endParaRPr lang="en-US" sz="1100"/>
          </a:p>
        </p:txBody>
      </p:sp>
      <p:sp>
        <p:nvSpPr>
          <p:cNvPr id="47" name="Freeform 47"/>
          <p:cNvSpPr/>
          <p:nvPr/>
        </p:nvSpPr>
        <p:spPr>
          <a:xfrm>
            <a:off x="10795000" y="4552950"/>
            <a:ext cx="0" cy="396240"/>
          </a:xfrm>
          <a:custGeom>
            <a:avLst/>
            <a:gdLst/>
            <a:ahLst/>
            <a:cxnLst/>
            <a:rect l="l" t="t" r="r" b="b"/>
            <a:pathLst>
              <a:path h="396240">
                <a:moveTo>
                  <a:pt x="0" y="0"/>
                </a:moveTo>
                <a:lnTo>
                  <a:pt x="0" y="60960"/>
                </a:lnTo>
                <a:moveTo>
                  <a:pt x="0" y="111760"/>
                </a:moveTo>
                <a:lnTo>
                  <a:pt x="0" y="172720"/>
                </a:lnTo>
                <a:moveTo>
                  <a:pt x="0" y="223520"/>
                </a:moveTo>
                <a:lnTo>
                  <a:pt x="0" y="284480"/>
                </a:lnTo>
                <a:moveTo>
                  <a:pt x="0" y="335280"/>
                </a:moveTo>
                <a:lnTo>
                  <a:pt x="0" y="396240"/>
                </a:lnTo>
              </a:path>
            </a:pathLst>
          </a:custGeom>
          <a:solidFill>
            <a:srgbClr val="000000">
              <a:alpha val="0"/>
            </a:srgbClr>
          </a:solidFill>
          <a:ln w="25400" cap="flat" cmpd="sng">
            <a:solidFill>
              <a:srgbClr val="8A8F94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8" name="Freeform 48"/>
          <p:cNvSpPr/>
          <p:nvPr/>
        </p:nvSpPr>
        <p:spPr>
          <a:xfrm>
            <a:off x="10749280" y="4888230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91440" y="0"/>
                </a:moveTo>
                <a:lnTo>
                  <a:pt x="4572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8A8F94">
              <a:alpha val="100000"/>
            </a:srgbClr>
          </a:solidFill>
          <a:ln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9" name="Freeform 49"/>
          <p:cNvSpPr/>
          <p:nvPr/>
        </p:nvSpPr>
        <p:spPr>
          <a:xfrm>
            <a:off x="10795000" y="4574286"/>
            <a:ext cx="0" cy="396240"/>
          </a:xfrm>
          <a:custGeom>
            <a:avLst/>
            <a:gdLst/>
            <a:ahLst/>
            <a:cxnLst/>
            <a:rect l="l" t="t" r="r" b="b"/>
            <a:pathLst>
              <a:path h="396240">
                <a:moveTo>
                  <a:pt x="0" y="396240"/>
                </a:moveTo>
                <a:lnTo>
                  <a:pt x="0" y="335280"/>
                </a:lnTo>
                <a:moveTo>
                  <a:pt x="0" y="284480"/>
                </a:moveTo>
                <a:lnTo>
                  <a:pt x="0" y="223520"/>
                </a:lnTo>
                <a:moveTo>
                  <a:pt x="0" y="172720"/>
                </a:moveTo>
                <a:lnTo>
                  <a:pt x="0" y="111760"/>
                </a:lnTo>
                <a:moveTo>
                  <a:pt x="0" y="60960"/>
                </a:moveTo>
                <a:lnTo>
                  <a:pt x="0" y="0"/>
                </a:lnTo>
              </a:path>
            </a:pathLst>
          </a:custGeom>
          <a:solidFill>
            <a:srgbClr val="000000">
              <a:alpha val="0"/>
            </a:srgbClr>
          </a:solidFill>
          <a:ln w="25400" cap="flat" cmpd="sng">
            <a:solidFill>
              <a:srgbClr val="8A8F94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0" name="Freeform 50"/>
          <p:cNvSpPr/>
          <p:nvPr/>
        </p:nvSpPr>
        <p:spPr>
          <a:xfrm>
            <a:off x="10749280" y="454380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91440"/>
                </a:moveTo>
                <a:lnTo>
                  <a:pt x="45720" y="0"/>
                </a:lnTo>
                <a:lnTo>
                  <a:pt x="91440" y="91440"/>
                </a:lnTo>
                <a:close/>
              </a:path>
            </a:pathLst>
          </a:custGeom>
          <a:solidFill>
            <a:srgbClr val="8A8F94">
              <a:alpha val="100000"/>
            </a:srgbClr>
          </a:solidFill>
          <a:ln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1" name="AutoShape 51"/>
          <p:cNvSpPr txBox="1"/>
          <p:nvPr/>
        </p:nvSpPr>
        <p:spPr>
          <a:xfrm>
            <a:off x="10845800" y="4677410"/>
            <a:ext cx="8001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596900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E19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增量回写</a:t>
            </a:r>
            <a:endParaRPr lang="en-US" sz="1100"/>
          </a:p>
        </p:txBody>
      </p:sp>
      <p:sp>
        <p:nvSpPr>
          <p:cNvPr id="52" name="Freeform 52"/>
          <p:cNvSpPr/>
          <p:nvPr/>
        </p:nvSpPr>
        <p:spPr>
          <a:xfrm>
            <a:off x="1905000" y="1873250"/>
            <a:ext cx="3048000" cy="396240"/>
          </a:xfrm>
          <a:custGeom>
            <a:avLst/>
            <a:gdLst/>
            <a:ahLst/>
            <a:cxnLst/>
            <a:rect l="l" t="t" r="r" b="b"/>
            <a:pathLst>
              <a:path w="3048000" h="396240">
                <a:moveTo>
                  <a:pt x="3048000" y="304800"/>
                </a:moveTo>
                <a:lnTo>
                  <a:pt x="3048000" y="243840"/>
                </a:lnTo>
                <a:moveTo>
                  <a:pt x="3048000" y="193040"/>
                </a:moveTo>
                <a:lnTo>
                  <a:pt x="3048000" y="132080"/>
                </a:lnTo>
                <a:moveTo>
                  <a:pt x="3048000" y="81280"/>
                </a:moveTo>
                <a:lnTo>
                  <a:pt x="3048000" y="20320"/>
                </a:lnTo>
                <a:moveTo>
                  <a:pt x="3017520" y="0"/>
                </a:moveTo>
                <a:lnTo>
                  <a:pt x="2956560" y="0"/>
                </a:lnTo>
                <a:moveTo>
                  <a:pt x="2905760" y="0"/>
                </a:moveTo>
                <a:lnTo>
                  <a:pt x="2844800" y="0"/>
                </a:lnTo>
                <a:moveTo>
                  <a:pt x="2794000" y="0"/>
                </a:moveTo>
                <a:lnTo>
                  <a:pt x="2733040" y="0"/>
                </a:lnTo>
                <a:moveTo>
                  <a:pt x="2682240" y="0"/>
                </a:moveTo>
                <a:lnTo>
                  <a:pt x="2621280" y="0"/>
                </a:lnTo>
                <a:moveTo>
                  <a:pt x="2570480" y="0"/>
                </a:moveTo>
                <a:lnTo>
                  <a:pt x="2509520" y="0"/>
                </a:lnTo>
                <a:moveTo>
                  <a:pt x="2458720" y="0"/>
                </a:moveTo>
                <a:lnTo>
                  <a:pt x="2397760" y="0"/>
                </a:lnTo>
                <a:moveTo>
                  <a:pt x="2346960" y="0"/>
                </a:moveTo>
                <a:lnTo>
                  <a:pt x="2286000" y="0"/>
                </a:lnTo>
                <a:moveTo>
                  <a:pt x="2235200" y="0"/>
                </a:moveTo>
                <a:lnTo>
                  <a:pt x="2174240" y="0"/>
                </a:lnTo>
                <a:moveTo>
                  <a:pt x="2123440" y="0"/>
                </a:moveTo>
                <a:lnTo>
                  <a:pt x="2062480" y="0"/>
                </a:lnTo>
                <a:moveTo>
                  <a:pt x="2011680" y="0"/>
                </a:moveTo>
                <a:lnTo>
                  <a:pt x="1950720" y="0"/>
                </a:lnTo>
                <a:moveTo>
                  <a:pt x="1899920" y="0"/>
                </a:moveTo>
                <a:lnTo>
                  <a:pt x="1838960" y="0"/>
                </a:lnTo>
                <a:moveTo>
                  <a:pt x="1788160" y="0"/>
                </a:moveTo>
                <a:lnTo>
                  <a:pt x="1727200" y="0"/>
                </a:lnTo>
                <a:moveTo>
                  <a:pt x="1676400" y="0"/>
                </a:moveTo>
                <a:lnTo>
                  <a:pt x="1615440" y="0"/>
                </a:lnTo>
                <a:moveTo>
                  <a:pt x="1564640" y="0"/>
                </a:moveTo>
                <a:lnTo>
                  <a:pt x="1503680" y="0"/>
                </a:lnTo>
                <a:moveTo>
                  <a:pt x="1452880" y="0"/>
                </a:moveTo>
                <a:lnTo>
                  <a:pt x="1391920" y="0"/>
                </a:lnTo>
                <a:moveTo>
                  <a:pt x="1341120" y="0"/>
                </a:moveTo>
                <a:lnTo>
                  <a:pt x="1280160" y="0"/>
                </a:lnTo>
                <a:moveTo>
                  <a:pt x="1229360" y="0"/>
                </a:moveTo>
                <a:lnTo>
                  <a:pt x="1168400" y="0"/>
                </a:lnTo>
                <a:moveTo>
                  <a:pt x="1117600" y="0"/>
                </a:moveTo>
                <a:lnTo>
                  <a:pt x="1056640" y="0"/>
                </a:lnTo>
                <a:moveTo>
                  <a:pt x="1005840" y="0"/>
                </a:moveTo>
                <a:lnTo>
                  <a:pt x="944880" y="0"/>
                </a:lnTo>
                <a:moveTo>
                  <a:pt x="894080" y="0"/>
                </a:moveTo>
                <a:lnTo>
                  <a:pt x="833120" y="0"/>
                </a:lnTo>
                <a:moveTo>
                  <a:pt x="782320" y="0"/>
                </a:moveTo>
                <a:lnTo>
                  <a:pt x="721360" y="0"/>
                </a:lnTo>
                <a:moveTo>
                  <a:pt x="670560" y="0"/>
                </a:moveTo>
                <a:lnTo>
                  <a:pt x="609600" y="0"/>
                </a:lnTo>
                <a:moveTo>
                  <a:pt x="558800" y="0"/>
                </a:moveTo>
                <a:lnTo>
                  <a:pt x="497840" y="0"/>
                </a:lnTo>
                <a:moveTo>
                  <a:pt x="447040" y="0"/>
                </a:moveTo>
                <a:lnTo>
                  <a:pt x="386080" y="0"/>
                </a:lnTo>
                <a:moveTo>
                  <a:pt x="335280" y="0"/>
                </a:moveTo>
                <a:lnTo>
                  <a:pt x="274320" y="0"/>
                </a:lnTo>
                <a:moveTo>
                  <a:pt x="223520" y="0"/>
                </a:moveTo>
                <a:lnTo>
                  <a:pt x="162560" y="0"/>
                </a:lnTo>
                <a:moveTo>
                  <a:pt x="111760" y="0"/>
                </a:moveTo>
                <a:lnTo>
                  <a:pt x="50800" y="0"/>
                </a:lnTo>
                <a:moveTo>
                  <a:pt x="0" y="0"/>
                </a:moveTo>
                <a:lnTo>
                  <a:pt x="0" y="60960"/>
                </a:lnTo>
                <a:moveTo>
                  <a:pt x="0" y="111760"/>
                </a:moveTo>
                <a:lnTo>
                  <a:pt x="0" y="172720"/>
                </a:lnTo>
                <a:moveTo>
                  <a:pt x="0" y="223520"/>
                </a:moveTo>
                <a:lnTo>
                  <a:pt x="0" y="284480"/>
                </a:lnTo>
                <a:moveTo>
                  <a:pt x="0" y="335280"/>
                </a:moveTo>
                <a:lnTo>
                  <a:pt x="0" y="396240"/>
                </a:lnTo>
              </a:path>
            </a:pathLst>
          </a:custGeom>
          <a:solidFill>
            <a:srgbClr val="000000">
              <a:alpha val="0"/>
            </a:srgbClr>
          </a:solidFill>
          <a:ln w="25400" cap="flat" cmpd="sng">
            <a:solidFill>
              <a:srgbClr val="8A8F94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3" name="Freeform 53"/>
          <p:cNvSpPr/>
          <p:nvPr/>
        </p:nvSpPr>
        <p:spPr>
          <a:xfrm>
            <a:off x="1859280" y="2191004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91440" y="0"/>
                </a:moveTo>
                <a:lnTo>
                  <a:pt x="4572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8A8F94">
              <a:alpha val="100000"/>
            </a:srgbClr>
          </a:solidFill>
          <a:ln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4" name="AutoShape 54"/>
          <p:cNvSpPr txBox="1"/>
          <p:nvPr/>
        </p:nvSpPr>
        <p:spPr>
          <a:xfrm>
            <a:off x="2715260" y="1626870"/>
            <a:ext cx="135636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596900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E19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 响应回传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457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04 / FEATURE 1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11200" y="8382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26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识别流程五步：从症状文本到多候选排序，全程可解释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1543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11200" y="2286000"/>
            <a:ext cx="1905000" cy="1397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2438400"/>
            <a:ext cx="355600" cy="355600"/>
          </a:xfrm>
          <a:prstGeom prst="roundRect">
            <a:avLst>
              <a:gd name="adj" fmla="val 14285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889000" y="2489200"/>
            <a:ext cx="355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889000" y="2895600"/>
            <a:ext cx="160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症状输入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889000" y="3225800"/>
            <a:ext cx="160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作物 + 部位 + 表现描述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819400" y="2286000"/>
            <a:ext cx="1905000" cy="1397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2997200" y="2438400"/>
            <a:ext cx="355600" cy="355600"/>
          </a:xfrm>
          <a:prstGeom prst="roundRect">
            <a:avLst>
              <a:gd name="adj" fmla="val 14285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2997200" y="2489200"/>
            <a:ext cx="355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2997200" y="2895600"/>
            <a:ext cx="160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中文分词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2997200" y="3225800"/>
            <a:ext cx="1600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1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CJK 单字 + 相邻双字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 拉丁词</a:t>
            </a:r>
            <a:endParaRPr lang="en-US" sz="11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927600" y="2286000"/>
            <a:ext cx="1905000" cy="1397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5105400" y="2438400"/>
            <a:ext cx="355600" cy="355600"/>
          </a:xfrm>
          <a:prstGeom prst="roundRect">
            <a:avLst>
              <a:gd name="adj" fmla="val 14285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 txBox="1"/>
          <p:nvPr/>
        </p:nvSpPr>
        <p:spPr>
          <a:xfrm>
            <a:off x="5105400" y="2489200"/>
            <a:ext cx="355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5105400" y="2895600"/>
            <a:ext cx="160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TF-IDF 向量化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5105400" y="3225800"/>
            <a:ext cx="160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本地词表，零外部依赖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035800" y="2286000"/>
            <a:ext cx="1905000" cy="1397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213600" y="2438400"/>
            <a:ext cx="355600" cy="355600"/>
          </a:xfrm>
          <a:prstGeom prst="roundRect">
            <a:avLst>
              <a:gd name="adj" fmla="val 14285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 txBox="1"/>
          <p:nvPr/>
        </p:nvSpPr>
        <p:spPr>
          <a:xfrm>
            <a:off x="7213600" y="2489200"/>
            <a:ext cx="355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7213600" y="2895600"/>
            <a:ext cx="160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余弦相似度</a:t>
            </a:r>
            <a:endParaRPr lang="en-US" sz="1100"/>
          </a:p>
        </p:txBody>
      </p:sp>
      <p:sp>
        <p:nvSpPr>
          <p:cNvPr id="24" name="AutoShape 24"/>
          <p:cNvSpPr txBox="1"/>
          <p:nvPr/>
        </p:nvSpPr>
        <p:spPr>
          <a:xfrm>
            <a:off x="7213600" y="3225800"/>
            <a:ext cx="160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1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 12 类缺素条目比对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144000" y="2286000"/>
            <a:ext cx="1905000" cy="1397000"/>
          </a:xfrm>
          <a:prstGeom prst="roundRect">
            <a:avLst>
              <a:gd name="adj" fmla="val 545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9321800" y="2438400"/>
            <a:ext cx="355600" cy="355600"/>
          </a:xfrm>
          <a:prstGeom prst="roundRect">
            <a:avLst>
              <a:gd name="adj" fmla="val 14285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 txBox="1"/>
          <p:nvPr/>
        </p:nvSpPr>
        <p:spPr>
          <a:xfrm>
            <a:off x="9321800" y="2489200"/>
            <a:ext cx="355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lang="en-US" sz="1100"/>
          </a:p>
        </p:txBody>
      </p:sp>
      <p:sp>
        <p:nvSpPr>
          <p:cNvPr id="28" name="AutoShape 28"/>
          <p:cNvSpPr txBox="1"/>
          <p:nvPr/>
        </p:nvSpPr>
        <p:spPr>
          <a:xfrm>
            <a:off x="9321800" y="2895600"/>
            <a:ext cx="1600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候选排序</a:t>
            </a:r>
            <a:endParaRPr lang="en-US" sz="1100"/>
          </a:p>
        </p:txBody>
      </p:sp>
      <p:sp>
        <p:nvSpPr>
          <p:cNvPr id="29" name="AutoShape 29"/>
          <p:cNvSpPr txBox="1"/>
          <p:nvPr/>
        </p:nvSpPr>
        <p:spPr>
          <a:xfrm>
            <a:off x="9321800" y="3225800"/>
            <a:ext cx="1600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4000"/>
              </a:lnSpc>
              <a:defRPr/>
            </a:pPr>
            <a:r>
              <a:rPr lang="en-US" sz="11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Top-3 + 置信度</a:t>
            </a:r>
            <a:endParaRPr lang="en-US" sz="1100"/>
          </a:p>
          <a:p>
            <a:pPr marL="0" indent="0" algn="l">
              <a:lnSpc>
                <a:spcPct val="104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+ 命中词</a:t>
            </a:r>
            <a:endParaRPr lang="en-US" sz="11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30" name="Connector 30"/>
          <p:cNvCxnSpPr/>
          <p:nvPr/>
        </p:nvCxnSpPr>
        <p:spPr>
          <a:xfrm rot="-427500">
            <a:off x="2667395" y="2978150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E7D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31" name="Connector 31"/>
          <p:cNvCxnSpPr/>
          <p:nvPr/>
        </p:nvCxnSpPr>
        <p:spPr>
          <a:xfrm rot="-427500">
            <a:off x="4775595" y="2978150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E7D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32" name="Connector 32"/>
          <p:cNvCxnSpPr/>
          <p:nvPr/>
        </p:nvCxnSpPr>
        <p:spPr>
          <a:xfrm rot="-427500">
            <a:off x="6883795" y="2978150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E7D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33" name="Connector 33"/>
          <p:cNvCxnSpPr/>
          <p:nvPr/>
        </p:nvCxnSpPr>
        <p:spPr>
          <a:xfrm rot="-427500">
            <a:off x="8991995" y="2978150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E7D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34" name="Connector 34"/>
          <p:cNvCxnSpPr/>
          <p:nvPr/>
        </p:nvCxnSpPr>
        <p:spPr>
          <a:xfrm rot="-4053">
            <a:off x="711204" y="4565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" name="AutoShape 35"/>
          <p:cNvSpPr/>
          <p:nvPr/>
        </p:nvSpPr>
        <p:spPr>
          <a:xfrm>
            <a:off x="711200" y="4775200"/>
            <a:ext cx="10769600" cy="508000"/>
          </a:xfrm>
          <a:prstGeom prst="roundRect">
            <a:avLst>
              <a:gd name="adj" fmla="val 15000"/>
            </a:avLst>
          </a:prstGeom>
          <a:solidFill>
            <a:srgbClr val="E8F0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6" name="AutoShape 36"/>
          <p:cNvSpPr txBox="1"/>
          <p:nvPr/>
        </p:nvSpPr>
        <p:spPr>
          <a:xfrm>
            <a:off x="965200" y="48768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可解释：每个候选都附带 matchReasons 命中关键词，判断依据可复核，拒绝“黑箱”输出。</a:t>
            </a:r>
            <a:endParaRPr lang="en-US" sz="1100"/>
          </a:p>
        </p:txBody>
      </p:sp>
      <p:sp>
        <p:nvSpPr>
          <p:cNvPr id="37" name="AutoShape 37"/>
          <p:cNvSpPr txBox="1"/>
          <p:nvPr/>
        </p:nvSpPr>
        <p:spPr>
          <a:xfrm>
            <a:off x="711200" y="6502400"/>
            <a:ext cx="10769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实现：VectorRetrieval.java（分词 · TF-IDF · 余弦），知识库 12 类缺素条目，2026-10-21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457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04 / FEATURE 1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11200" y="8382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26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实测双样例：水稻 N 99% · 玉米 Zn 99%，多候选带命中依据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1543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11200" y="1778000"/>
            <a:ext cx="5029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样例 1 · 水稻老叶发黄（tech）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" y="2133600"/>
            <a:ext cx="5029200" cy="812800"/>
          </a:xfrm>
          <a:prstGeom prst="roundRect">
            <a:avLst>
              <a:gd name="adj" fmla="val 937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914400" y="2235200"/>
            <a:ext cx="4648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水稻老叶发黄，从下部叶片开始，整株均匀发黄，长势差</a:t>
            </a:r>
            <a:endParaRPr lang="en-US" sz="1100"/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711200" y="3098800"/>
          <a:ext cx="5029200" cy="2006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965200"/>
                <a:gridCol w="2794000"/>
              </a:tblGrid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元素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7D3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置信度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7D3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命中关键词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7D32">
                        <a:alpha val="100000"/>
                      </a:srgbClr>
                    </a:solidFill>
                  </a:tcPr>
                </a:tc>
              </a:tr>
              <a:tr h="546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N 缺氮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99%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老叶 · 发黄 · 均匀 · 下部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6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Mg 缺镁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79%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老叶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Fe 缺铁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77%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（全局相似）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" name="AutoShape 9"/>
          <p:cNvSpPr txBox="1"/>
          <p:nvPr/>
        </p:nvSpPr>
        <p:spPr>
          <a:xfrm>
            <a:off x="711200" y="5207000"/>
            <a:ext cx="5029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风险等级：</a:t>
            </a:r>
            <a:r>
              <a:rPr lang="en-US" sz="1200" b="1" i="0" u="none" strike="noStrike">
                <a:solidFill>
                  <a:srgbClr val="C93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</a:t>
            </a: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（环境词命中，见创新 03）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6350000" y="1778000"/>
            <a:ext cx="5130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样例 2 · 玉米新叶发白（tech）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2133600"/>
            <a:ext cx="5130800" cy="812800"/>
          </a:xfrm>
          <a:prstGeom prst="roundRect">
            <a:avLst>
              <a:gd name="adj" fmla="val 937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6553200" y="2235200"/>
            <a:ext cx="4749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玉米幼苗新叶发白，叶脉间失绿，植株矮小簇生</a:t>
            </a:r>
            <a:endParaRPr lang="en-US" sz="110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6350000" y="3098800"/>
          <a:ext cx="5130800" cy="2006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965200"/>
                <a:gridCol w="2895600"/>
              </a:tblGrid>
              <a:tr h="381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元素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7D3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置信度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7D3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命中关键词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7D32">
                        <a:alpha val="100000"/>
                      </a:srgbClr>
                    </a:solidFill>
                  </a:tcPr>
                </a:tc>
              </a:tr>
              <a:tr h="546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Zn 缺锌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99%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簇生 · 失绿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461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Fe 缺铁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98%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新叶 · 脉间失绿 · 发白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Mn 缺锰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2E7D32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94%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新叶 · 脉间失绿 · 矮小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AutoShape 14"/>
          <p:cNvSpPr txBox="1"/>
          <p:nvPr/>
        </p:nvSpPr>
        <p:spPr>
          <a:xfrm>
            <a:off x="6350000" y="5207000"/>
            <a:ext cx="51308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风险等级：</a:t>
            </a:r>
            <a:r>
              <a:rPr lang="en-US" sz="1200" b="1" i="0" u="none" strike="noStrike">
                <a:solidFill>
                  <a:srgbClr val="C93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</a:t>
            </a: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（环境词命中，见创新 03）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4053">
            <a:off x="711204" y="5734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 txBox="1"/>
          <p:nvPr/>
        </p:nvSpPr>
        <p:spPr>
          <a:xfrm>
            <a:off x="711200" y="5892800"/>
            <a:ext cx="10769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多候选价值：相似症状给出梯度置信度与命中依据，供农技人员复核，避免误诊后错误施肥。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711200" y="6502400"/>
            <a:ext cx="10769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来源：本地接口实测 POST /api/analyze，2026-10-21；llmUsed=false，纯本地检索 + 规则渲染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457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05 / FEATURE 2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11200" y="8382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26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施肥建议：六层输出结构 + farmer/tech 双模板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1543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11200" y="1752600"/>
            <a:ext cx="1076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六层输出结构（随 /api/analyze 一次返回）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11200" y="2159000"/>
            <a:ext cx="160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1" i="0" u="none" strike="noStrike">
                <a:solidFill>
                  <a:srgbClr val="2E7D32"/>
                </a:solidFill>
                <a:latin typeface="Roboto Mono"/>
                <a:ea typeface="Roboto Mono"/>
                <a:cs typeface="Roboto Mono"/>
                <a:sym typeface="Roboto Mono"/>
              </a:rPr>
              <a:t>description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200" b="1" i="0" u="none" strike="noStrike">
                <a:solidFill>
                  <a:srgbClr val="2E7D32"/>
                </a:solidFill>
                <a:latin typeface="Roboto Mono"/>
                <a:ea typeface="Roboto Mono"/>
                <a:cs typeface="Roboto Mono"/>
                <a:sym typeface="Roboto Mono"/>
              </a:rPr>
              <a:t>缺素机理</a:t>
            </a:r>
            <a:endParaRPr lang="en-US" sz="1200" b="1" i="0" u="none" strike="noStrike">
              <a:solidFill>
                <a:srgbClr val="2E7D3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7" name="Connector 7"/>
          <p:cNvCxnSpPr/>
          <p:nvPr/>
        </p:nvCxnSpPr>
        <p:spPr>
          <a:xfrm rot="5328390">
            <a:off x="2108200" y="2559116"/>
            <a:ext cx="60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2590800" y="2159000"/>
            <a:ext cx="160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1" i="0" u="none" strike="noStrike">
                <a:solidFill>
                  <a:srgbClr val="2E7D32"/>
                </a:solidFill>
                <a:latin typeface="Roboto Mono"/>
                <a:ea typeface="Roboto Mono"/>
                <a:cs typeface="Roboto Mono"/>
                <a:sym typeface="Roboto Mono"/>
              </a:rPr>
              <a:t>agronomic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200" b="1" i="0" u="none" strike="noStrike">
                <a:solidFill>
                  <a:srgbClr val="2E7D32"/>
                </a:solidFill>
                <a:latin typeface="Roboto Mono"/>
                <a:ea typeface="Roboto Mono"/>
                <a:cs typeface="Roboto Mono"/>
                <a:sym typeface="Roboto Mono"/>
              </a:rPr>
              <a:t>农艺调控</a:t>
            </a:r>
            <a:endParaRPr lang="en-US" sz="1200" b="1" i="0" u="none" strike="noStrike">
              <a:solidFill>
                <a:srgbClr val="2E7D3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9" name="Connector 9"/>
          <p:cNvCxnSpPr/>
          <p:nvPr/>
        </p:nvCxnSpPr>
        <p:spPr>
          <a:xfrm rot="5328390">
            <a:off x="3987800" y="2559116"/>
            <a:ext cx="60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 txBox="1"/>
          <p:nvPr/>
        </p:nvSpPr>
        <p:spPr>
          <a:xfrm>
            <a:off x="4470400" y="2159000"/>
            <a:ext cx="160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1" i="0" u="none" strike="noStrike">
                <a:solidFill>
                  <a:srgbClr val="2E7D32"/>
                </a:solidFill>
                <a:latin typeface="Roboto Mono"/>
                <a:ea typeface="Roboto Mono"/>
                <a:cs typeface="Roboto Mono"/>
                <a:sym typeface="Roboto Mono"/>
              </a:rPr>
              <a:t>organic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200" b="1" i="0" u="none" strike="noStrike">
                <a:solidFill>
                  <a:srgbClr val="2E7D32"/>
                </a:solidFill>
                <a:latin typeface="Roboto Mono"/>
                <a:ea typeface="Roboto Mono"/>
                <a:cs typeface="Roboto Mono"/>
                <a:sym typeface="Roboto Mono"/>
              </a:rPr>
              <a:t>有机生物肥</a:t>
            </a:r>
            <a:endParaRPr lang="en-US" sz="1200" b="1" i="0" u="none" strike="noStrike">
              <a:solidFill>
                <a:srgbClr val="2E7D3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1" name="Connector 11"/>
          <p:cNvCxnSpPr/>
          <p:nvPr/>
        </p:nvCxnSpPr>
        <p:spPr>
          <a:xfrm rot="5328390">
            <a:off x="5867400" y="2559116"/>
            <a:ext cx="60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6350000" y="2159000"/>
            <a:ext cx="160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1" i="0" u="none" strike="noStrike">
                <a:solidFill>
                  <a:srgbClr val="2E7D32"/>
                </a:solidFill>
                <a:latin typeface="Roboto Mono"/>
                <a:ea typeface="Roboto Mono"/>
                <a:cs typeface="Roboto Mono"/>
                <a:sym typeface="Roboto Mono"/>
              </a:rPr>
              <a:t>chemical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200" b="1" i="0" u="none" strike="noStrike">
                <a:solidFill>
                  <a:srgbClr val="2E7D32"/>
                </a:solidFill>
                <a:latin typeface="Roboto Mono"/>
                <a:ea typeface="Roboto Mono"/>
                <a:cs typeface="Roboto Mono"/>
                <a:sym typeface="Roboto Mono"/>
              </a:rPr>
              <a:t>化学追施</a:t>
            </a:r>
            <a:endParaRPr lang="en-US" sz="1200" b="1" i="0" u="none" strike="noStrike">
              <a:solidFill>
                <a:srgbClr val="2E7D3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3" name="Connector 13"/>
          <p:cNvCxnSpPr/>
          <p:nvPr/>
        </p:nvCxnSpPr>
        <p:spPr>
          <a:xfrm rot="5328390">
            <a:off x="7747000" y="2559116"/>
            <a:ext cx="60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 txBox="1"/>
          <p:nvPr/>
        </p:nvSpPr>
        <p:spPr>
          <a:xfrm>
            <a:off x="8229600" y="2159000"/>
            <a:ext cx="160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1" i="0" u="none" strike="noStrike">
                <a:solidFill>
                  <a:srgbClr val="2E7D32"/>
                </a:solidFill>
                <a:latin typeface="Roboto Mono"/>
                <a:ea typeface="Roboto Mono"/>
                <a:cs typeface="Roboto Mono"/>
                <a:sym typeface="Roboto Mono"/>
              </a:rPr>
              <a:t>safety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200" b="1" i="0" u="none" strike="noStrike">
                <a:solidFill>
                  <a:srgbClr val="2E7D32"/>
                </a:solidFill>
                <a:latin typeface="Roboto Mono"/>
                <a:ea typeface="Roboto Mono"/>
                <a:cs typeface="Roboto Mono"/>
                <a:sym typeface="Roboto Mono"/>
              </a:rPr>
              <a:t>安全减量</a:t>
            </a:r>
            <a:endParaRPr lang="en-US" sz="1200" b="1" i="0" u="none" strike="noStrike">
              <a:solidFill>
                <a:srgbClr val="2E7D3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5" name="Connector 15"/>
          <p:cNvCxnSpPr/>
          <p:nvPr/>
        </p:nvCxnSpPr>
        <p:spPr>
          <a:xfrm rot="5328390">
            <a:off x="9626600" y="2559116"/>
            <a:ext cx="60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 txBox="1"/>
          <p:nvPr/>
        </p:nvSpPr>
        <p:spPr>
          <a:xfrm>
            <a:off x="10109200" y="2159000"/>
            <a:ext cx="1422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3000"/>
              </a:lnSpc>
              <a:defRPr/>
            </a:pPr>
            <a:r>
              <a:rPr lang="en-US" sz="1200" b="1" i="0" u="none" strike="noStrike">
                <a:solidFill>
                  <a:srgbClr val="2E7D32"/>
                </a:solidFill>
                <a:latin typeface="Roboto Mono"/>
                <a:ea typeface="Roboto Mono"/>
                <a:cs typeface="Roboto Mono"/>
                <a:sym typeface="Roboto Mono"/>
              </a:rPr>
              <a:t>scienceCard</a:t>
            </a:r>
            <a:endParaRPr lang="en-US" sz="1100"/>
          </a:p>
          <a:p>
            <a:pPr marL="0" indent="0" algn="l">
              <a:lnSpc>
                <a:spcPct val="113000"/>
              </a:lnSpc>
            </a:pPr>
            <a:r>
              <a:rPr lang="en-US" sz="1200" b="1" i="0" u="none" strike="noStrike">
                <a:solidFill>
                  <a:srgbClr val="2E7D32"/>
                </a:solidFill>
                <a:latin typeface="Roboto Mono"/>
                <a:ea typeface="Roboto Mono"/>
                <a:cs typeface="Roboto Mono"/>
                <a:sym typeface="Roboto Mono"/>
              </a:rPr>
              <a:t>科普+思政</a:t>
            </a:r>
            <a:endParaRPr lang="en-US" sz="1200" b="1" i="0" u="none" strike="noStrike">
              <a:solidFill>
                <a:srgbClr val="2E7D3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" name="AutoShape 17"/>
          <p:cNvSpPr txBox="1"/>
          <p:nvPr/>
        </p:nvSpPr>
        <p:spPr>
          <a:xfrm>
            <a:off x="711200" y="2997200"/>
            <a:ext cx="10769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机理 → 耕作水分 → 粪肥绿肥 → 化肥用量 → 减量防污 → 科普比喻与价值引导，前端分区渲染不截断。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4053">
            <a:off x="711204" y="3448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711200" y="3632200"/>
            <a:ext cx="2565400" cy="355600"/>
          </a:xfrm>
          <a:prstGeom prst="roundRect">
            <a:avLst>
              <a:gd name="adj" fmla="val 14285"/>
            </a:avLst>
          </a:prstGeom>
          <a:solidFill>
            <a:srgbClr val="2E7D3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838200" y="3683000"/>
            <a:ext cx="2438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farmer · 农户简易版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11200" y="4089400"/>
            <a:ext cx="5029200" cy="13716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 txBox="1"/>
          <p:nvPr/>
        </p:nvSpPr>
        <p:spPr>
          <a:xfrm>
            <a:off x="914400" y="4216400"/>
            <a:ext cx="4648200" cy="1117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初步判断是缺氮症。氮是叶绿素、蛋白质和核酸的核心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组成元素。建议：水稻追施尿素每亩 7-10kg，分 2-3 次</a:t>
            </a:r>
            <a:endParaRPr lang="en-US" sz="11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追施。注意：氮肥忌过量、忌表施，科学减量，按需追施。</a:t>
            </a:r>
            <a:endParaRPr lang="en-US" sz="11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350000" y="3632200"/>
            <a:ext cx="2565400" cy="355600"/>
          </a:xfrm>
          <a:prstGeom prst="roundRect">
            <a:avLst>
              <a:gd name="adj" fmla="val 14285"/>
            </a:avLst>
          </a:prstGeom>
          <a:solidFill>
            <a:srgbClr val="1B5E2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 txBox="1"/>
          <p:nvPr/>
        </p:nvSpPr>
        <p:spPr>
          <a:xfrm>
            <a:off x="6477000" y="3683000"/>
            <a:ext cx="24384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tech · 农技完整版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350000" y="4089400"/>
            <a:ext cx="5130800" cy="13716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1B5E2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 txBox="1"/>
          <p:nvPr/>
        </p:nvSpPr>
        <p:spPr>
          <a:xfrm>
            <a:off x="6553200" y="4216400"/>
            <a:ext cx="4724400" cy="1117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1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agronomic：追肥结合中耕松土，水稻田保持浅水层后追施。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organic：基施腐熟畜禽粪肥（亩用 2000-3000kg），轮作绿肥。</a:t>
            </a:r>
            <a:endParaRPr lang="en-US" sz="11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1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chemical：禾本科追施尿素 7-10kg/亩，或碳铵 15-20kg。</a:t>
            </a:r>
            <a:endParaRPr lang="en-US" sz="11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27" name="Connector 27"/>
          <p:cNvCxnSpPr/>
          <p:nvPr/>
        </p:nvCxnSpPr>
        <p:spPr>
          <a:xfrm rot="-4053">
            <a:off x="711204" y="5734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711200" y="5918200"/>
            <a:ext cx="10769600" cy="457200"/>
          </a:xfrm>
          <a:prstGeom prst="roundRect">
            <a:avLst>
              <a:gd name="adj" fmla="val 16666"/>
            </a:avLst>
          </a:prstGeom>
          <a:solidFill>
            <a:srgbClr val="E8F0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 txBox="1"/>
          <p:nvPr/>
        </p:nvSpPr>
        <p:spPr>
          <a:xfrm>
            <a:off x="965200" y="6019800"/>
            <a:ext cx="10414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创新点 1 · 双模板场景创新：农户要“听得懂、照着做”，农技人员要“字段全、可复核”。</a:t>
            </a:r>
            <a:endParaRPr lang="en-US" sz="1100"/>
          </a:p>
        </p:txBody>
      </p:sp>
      <p:sp>
        <p:nvSpPr>
          <p:cNvPr id="30" name="AutoShape 30"/>
          <p:cNvSpPr txBox="1"/>
          <p:nvPr/>
        </p:nvSpPr>
        <p:spPr>
          <a:xfrm>
            <a:off x="711200" y="6502400"/>
            <a:ext cx="10769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来源：本地接口实测 POST /api/analyze（mode=tech / mode=farmer），2026-10-21；llmUsed=false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4572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06 / KNOWLEDGE BASE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11200" y="838200"/>
            <a:ext cx="10922000" cy="7785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26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知识库自建管线：采集 → 清洗 → 切片 → 分类 → 增量合并，失败自动兜底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16192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11200" y="6350000"/>
            <a:ext cx="10769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图 2 · 知识库构建数据流：离线构建与在线检索解耦，采集失败不阻塞演示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711200" y="6604000"/>
            <a:ext cx="10769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来源：爬虫实测——中国农业农村信息网 430 段、全国农技推广网 38 段采集成功；百度百科等 403/412 拒绝 → 触发内置兜底，2026-10-21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524000" y="2724150"/>
            <a:ext cx="1524000" cy="774700"/>
          </a:xfrm>
          <a:prstGeom prst="roundRect">
            <a:avLst>
              <a:gd name="adj" fmla="val 131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 txBox="1"/>
          <p:nvPr/>
        </p:nvSpPr>
        <p:spPr>
          <a:xfrm>
            <a:off x="2019300" y="2848610"/>
            <a:ext cx="5334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种子源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714500" y="3039110"/>
            <a:ext cx="11430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农业农村信息网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1638300" y="3229610"/>
            <a:ext cx="12954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全国农技推广网等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769360" y="2819400"/>
            <a:ext cx="1859280" cy="584200"/>
          </a:xfrm>
          <a:prstGeom prst="roundRect">
            <a:avLst>
              <a:gd name="adj" fmla="val 1739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 txBox="1"/>
          <p:nvPr/>
        </p:nvSpPr>
        <p:spPr>
          <a:xfrm>
            <a:off x="4098290" y="2943860"/>
            <a:ext cx="120142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run_crawler.py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3981450" y="3134360"/>
            <a:ext cx="14351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 · 清洗 · 去重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197600" y="2819400"/>
            <a:ext cx="1828800" cy="584200"/>
          </a:xfrm>
          <a:prstGeom prst="roundRect">
            <a:avLst>
              <a:gd name="adj" fmla="val 1739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6682740" y="2943860"/>
            <a:ext cx="85852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180 字切片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6311900" y="3134360"/>
            <a:ext cx="16002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按元素关键词自动分类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486140" y="2724150"/>
            <a:ext cx="2331720" cy="774700"/>
          </a:xfrm>
          <a:prstGeom prst="roundRect">
            <a:avLst>
              <a:gd name="adj" fmla="val 13114"/>
            </a:avLst>
          </a:prstGeom>
          <a:solidFill>
            <a:srgbClr val="2E7D32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 txBox="1"/>
          <p:nvPr/>
        </p:nvSpPr>
        <p:spPr>
          <a:xfrm>
            <a:off x="9156700" y="2848610"/>
            <a:ext cx="9906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增量合并回写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8844280" y="3039110"/>
            <a:ext cx="161544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knowledge.json · 12</a:t>
            </a:r>
            <a:endParaRPr lang="en-US" sz="1100"/>
          </a:p>
        </p:txBody>
      </p:sp>
      <p:sp>
        <p:nvSpPr>
          <p:cNvPr id="20" name="AutoShape 20"/>
          <p:cNvSpPr txBox="1"/>
          <p:nvPr/>
        </p:nvSpPr>
        <p:spPr>
          <a:xfrm>
            <a:off x="9461500" y="3229610"/>
            <a:ext cx="3810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元素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3937000" y="4597400"/>
            <a:ext cx="1524000" cy="584200"/>
          </a:xfrm>
          <a:prstGeom prst="roundRect">
            <a:avLst>
              <a:gd name="adj" fmla="val 17391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8A8F94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 txBox="1"/>
          <p:nvPr/>
        </p:nvSpPr>
        <p:spPr>
          <a:xfrm>
            <a:off x="4203700" y="4721860"/>
            <a:ext cx="9906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网络失败兜底</a:t>
            </a:r>
            <a:endParaRPr lang="en-US" sz="1100"/>
          </a:p>
        </p:txBody>
      </p:sp>
      <p:sp>
        <p:nvSpPr>
          <p:cNvPr id="23" name="AutoShape 23"/>
          <p:cNvSpPr txBox="1"/>
          <p:nvPr/>
        </p:nvSpPr>
        <p:spPr>
          <a:xfrm>
            <a:off x="4051300" y="4912360"/>
            <a:ext cx="1295400" cy="152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ctr" defTabSz="596900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内置专家种子数据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60517">
            <a:off x="3048056" y="3105150"/>
            <a:ext cx="72136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E7D32">
                <a:alpha val="100000"/>
              </a:srgbClr>
            </a:solidFill>
            <a:prstDash val="solid"/>
            <a:miter lim="4700000"/>
            <a:headEnd type="none" w="lg" len="lg"/>
            <a:tailEnd type="none" w="lg" len="lg"/>
          </a:ln>
        </p:spPr>
      </p:cxnSp>
      <p:sp>
        <p:nvSpPr>
          <p:cNvPr id="25" name="Freeform 25"/>
          <p:cNvSpPr/>
          <p:nvPr/>
        </p:nvSpPr>
        <p:spPr>
          <a:xfrm>
            <a:off x="3666490" y="30543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2E7D32">
              <a:alpha val="100000"/>
            </a:srgbClr>
          </a:solidFill>
          <a:ln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26" name="Connector 26"/>
          <p:cNvCxnSpPr/>
          <p:nvPr/>
        </p:nvCxnSpPr>
        <p:spPr>
          <a:xfrm rot="-76722">
            <a:off x="5628711" y="3105150"/>
            <a:ext cx="56896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E7D32">
                <a:alpha val="100000"/>
              </a:srgbClr>
            </a:solidFill>
            <a:prstDash val="solid"/>
            <a:miter lim="4700000"/>
            <a:headEnd type="none" w="lg" len="lg"/>
            <a:tailEnd type="none" w="lg" len="lg"/>
          </a:ln>
        </p:spPr>
      </p:cxnSp>
      <p:sp>
        <p:nvSpPr>
          <p:cNvPr id="27" name="Freeform 27"/>
          <p:cNvSpPr/>
          <p:nvPr/>
        </p:nvSpPr>
        <p:spPr>
          <a:xfrm>
            <a:off x="6094730" y="30543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2E7D32">
              <a:alpha val="100000"/>
            </a:srgbClr>
          </a:solidFill>
          <a:ln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28" name="Connector 28"/>
          <p:cNvCxnSpPr/>
          <p:nvPr/>
        </p:nvCxnSpPr>
        <p:spPr>
          <a:xfrm rot="-94941">
            <a:off x="8026488" y="3105150"/>
            <a:ext cx="45974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E7D32">
                <a:alpha val="100000"/>
              </a:srgbClr>
            </a:solidFill>
            <a:prstDash val="solid"/>
            <a:miter lim="4700000"/>
            <a:headEnd type="none" w="lg" len="lg"/>
            <a:tailEnd type="none" w="lg" len="lg"/>
          </a:ln>
        </p:spPr>
      </p:cxnSp>
      <p:sp>
        <p:nvSpPr>
          <p:cNvPr id="29" name="Freeform 29"/>
          <p:cNvSpPr/>
          <p:nvPr/>
        </p:nvSpPr>
        <p:spPr>
          <a:xfrm>
            <a:off x="8383270" y="30543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0" y="0"/>
                </a:moveTo>
                <a:lnTo>
                  <a:pt x="114300" y="57150"/>
                </a:lnTo>
                <a:lnTo>
                  <a:pt x="0" y="114300"/>
                </a:lnTo>
                <a:close/>
              </a:path>
            </a:pathLst>
          </a:custGeom>
          <a:solidFill>
            <a:srgbClr val="2E7D32">
              <a:alpha val="100000"/>
            </a:srgbClr>
          </a:solidFill>
          <a:ln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Freeform 30"/>
          <p:cNvSpPr/>
          <p:nvPr/>
        </p:nvSpPr>
        <p:spPr>
          <a:xfrm>
            <a:off x="4699000" y="3409950"/>
            <a:ext cx="0" cy="1178560"/>
          </a:xfrm>
          <a:custGeom>
            <a:avLst/>
            <a:gdLst/>
            <a:ahLst/>
            <a:cxnLst/>
            <a:rect l="l" t="t" r="r" b="b"/>
            <a:pathLst>
              <a:path h="1178560">
                <a:moveTo>
                  <a:pt x="0" y="0"/>
                </a:moveTo>
                <a:lnTo>
                  <a:pt x="0" y="60960"/>
                </a:lnTo>
                <a:moveTo>
                  <a:pt x="0" y="111760"/>
                </a:moveTo>
                <a:lnTo>
                  <a:pt x="0" y="172720"/>
                </a:lnTo>
                <a:moveTo>
                  <a:pt x="0" y="223520"/>
                </a:moveTo>
                <a:lnTo>
                  <a:pt x="0" y="284480"/>
                </a:lnTo>
                <a:moveTo>
                  <a:pt x="0" y="335280"/>
                </a:moveTo>
                <a:lnTo>
                  <a:pt x="0" y="396240"/>
                </a:lnTo>
                <a:moveTo>
                  <a:pt x="0" y="447040"/>
                </a:moveTo>
                <a:lnTo>
                  <a:pt x="0" y="508000"/>
                </a:lnTo>
                <a:moveTo>
                  <a:pt x="0" y="558800"/>
                </a:moveTo>
                <a:lnTo>
                  <a:pt x="0" y="619760"/>
                </a:lnTo>
                <a:moveTo>
                  <a:pt x="0" y="670560"/>
                </a:moveTo>
                <a:lnTo>
                  <a:pt x="0" y="731520"/>
                </a:lnTo>
                <a:moveTo>
                  <a:pt x="0" y="782320"/>
                </a:moveTo>
                <a:lnTo>
                  <a:pt x="0" y="843280"/>
                </a:lnTo>
                <a:moveTo>
                  <a:pt x="0" y="894080"/>
                </a:moveTo>
                <a:lnTo>
                  <a:pt x="0" y="955040"/>
                </a:lnTo>
                <a:moveTo>
                  <a:pt x="0" y="1005840"/>
                </a:moveTo>
                <a:lnTo>
                  <a:pt x="0" y="1066800"/>
                </a:lnTo>
                <a:moveTo>
                  <a:pt x="0" y="1117600"/>
                </a:moveTo>
                <a:lnTo>
                  <a:pt x="0" y="1178560"/>
                </a:lnTo>
              </a:path>
            </a:pathLst>
          </a:custGeom>
          <a:solidFill>
            <a:srgbClr val="000000">
              <a:alpha val="0"/>
            </a:srgbClr>
          </a:solidFill>
          <a:ln w="25400" cap="flat" cmpd="sng">
            <a:solidFill>
              <a:srgbClr val="8A8F94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1" name="Freeform 31"/>
          <p:cNvSpPr/>
          <p:nvPr/>
        </p:nvSpPr>
        <p:spPr>
          <a:xfrm>
            <a:off x="4653280" y="4508754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91440" y="0"/>
                </a:moveTo>
                <a:lnTo>
                  <a:pt x="45720" y="91440"/>
                </a:lnTo>
                <a:lnTo>
                  <a:pt x="0" y="0"/>
                </a:lnTo>
                <a:close/>
              </a:path>
            </a:pathLst>
          </a:custGeom>
          <a:solidFill>
            <a:srgbClr val="8A8F94">
              <a:alpha val="100000"/>
            </a:srgbClr>
          </a:solidFill>
          <a:ln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2" name="Freeform 32"/>
          <p:cNvSpPr/>
          <p:nvPr/>
        </p:nvSpPr>
        <p:spPr>
          <a:xfrm>
            <a:off x="4699000" y="3505200"/>
            <a:ext cx="4953000" cy="1085850"/>
          </a:xfrm>
          <a:custGeom>
            <a:avLst/>
            <a:gdLst/>
            <a:ahLst/>
            <a:cxnLst/>
            <a:rect l="l" t="t" r="r" b="b"/>
            <a:pathLst>
              <a:path w="4953000" h="1085850">
                <a:moveTo>
                  <a:pt x="0" y="1085850"/>
                </a:moveTo>
                <a:lnTo>
                  <a:pt x="0" y="1024890"/>
                </a:lnTo>
                <a:moveTo>
                  <a:pt x="0" y="974090"/>
                </a:moveTo>
                <a:lnTo>
                  <a:pt x="0" y="913130"/>
                </a:lnTo>
                <a:moveTo>
                  <a:pt x="0" y="862330"/>
                </a:moveTo>
                <a:lnTo>
                  <a:pt x="0" y="801370"/>
                </a:lnTo>
                <a:moveTo>
                  <a:pt x="0" y="750570"/>
                </a:moveTo>
                <a:lnTo>
                  <a:pt x="0" y="689610"/>
                </a:lnTo>
                <a:moveTo>
                  <a:pt x="0" y="638810"/>
                </a:moveTo>
                <a:lnTo>
                  <a:pt x="0" y="577850"/>
                </a:lnTo>
                <a:moveTo>
                  <a:pt x="0" y="527050"/>
                </a:moveTo>
                <a:lnTo>
                  <a:pt x="0" y="466090"/>
                </a:lnTo>
                <a:moveTo>
                  <a:pt x="0" y="415290"/>
                </a:moveTo>
                <a:lnTo>
                  <a:pt x="0" y="354330"/>
                </a:lnTo>
                <a:moveTo>
                  <a:pt x="1270" y="304800"/>
                </a:moveTo>
                <a:lnTo>
                  <a:pt x="62230" y="304800"/>
                </a:lnTo>
                <a:moveTo>
                  <a:pt x="113030" y="304800"/>
                </a:moveTo>
                <a:lnTo>
                  <a:pt x="173990" y="304800"/>
                </a:lnTo>
                <a:moveTo>
                  <a:pt x="224790" y="304800"/>
                </a:moveTo>
                <a:lnTo>
                  <a:pt x="285750" y="304800"/>
                </a:lnTo>
                <a:moveTo>
                  <a:pt x="336550" y="304800"/>
                </a:moveTo>
                <a:lnTo>
                  <a:pt x="397510" y="304800"/>
                </a:lnTo>
                <a:moveTo>
                  <a:pt x="448310" y="304800"/>
                </a:moveTo>
                <a:lnTo>
                  <a:pt x="509270" y="304800"/>
                </a:lnTo>
                <a:moveTo>
                  <a:pt x="560070" y="304800"/>
                </a:moveTo>
                <a:lnTo>
                  <a:pt x="621030" y="304800"/>
                </a:lnTo>
                <a:moveTo>
                  <a:pt x="671830" y="304800"/>
                </a:moveTo>
                <a:lnTo>
                  <a:pt x="732790" y="304800"/>
                </a:lnTo>
                <a:moveTo>
                  <a:pt x="783590" y="304800"/>
                </a:moveTo>
                <a:lnTo>
                  <a:pt x="844550" y="304800"/>
                </a:lnTo>
                <a:moveTo>
                  <a:pt x="895350" y="304800"/>
                </a:moveTo>
                <a:lnTo>
                  <a:pt x="956310" y="304800"/>
                </a:lnTo>
                <a:moveTo>
                  <a:pt x="1007110" y="304800"/>
                </a:moveTo>
                <a:lnTo>
                  <a:pt x="1068070" y="304800"/>
                </a:lnTo>
                <a:moveTo>
                  <a:pt x="1118870" y="304800"/>
                </a:moveTo>
                <a:lnTo>
                  <a:pt x="1179830" y="304800"/>
                </a:lnTo>
                <a:moveTo>
                  <a:pt x="1230630" y="304800"/>
                </a:moveTo>
                <a:lnTo>
                  <a:pt x="1291590" y="304800"/>
                </a:lnTo>
                <a:moveTo>
                  <a:pt x="1342390" y="304800"/>
                </a:moveTo>
                <a:lnTo>
                  <a:pt x="1403350" y="304800"/>
                </a:lnTo>
                <a:moveTo>
                  <a:pt x="1454150" y="304800"/>
                </a:moveTo>
                <a:lnTo>
                  <a:pt x="1515110" y="304800"/>
                </a:lnTo>
                <a:moveTo>
                  <a:pt x="1565910" y="304800"/>
                </a:moveTo>
                <a:lnTo>
                  <a:pt x="1626870" y="304800"/>
                </a:lnTo>
                <a:moveTo>
                  <a:pt x="1677670" y="304800"/>
                </a:moveTo>
                <a:lnTo>
                  <a:pt x="1738630" y="304800"/>
                </a:lnTo>
                <a:moveTo>
                  <a:pt x="1789430" y="304800"/>
                </a:moveTo>
                <a:lnTo>
                  <a:pt x="1850390" y="304800"/>
                </a:lnTo>
                <a:moveTo>
                  <a:pt x="1901190" y="304800"/>
                </a:moveTo>
                <a:lnTo>
                  <a:pt x="1962150" y="304800"/>
                </a:lnTo>
                <a:moveTo>
                  <a:pt x="2012950" y="304800"/>
                </a:moveTo>
                <a:lnTo>
                  <a:pt x="2073910" y="304800"/>
                </a:lnTo>
                <a:moveTo>
                  <a:pt x="2124710" y="304800"/>
                </a:moveTo>
                <a:lnTo>
                  <a:pt x="2185670" y="304800"/>
                </a:lnTo>
                <a:moveTo>
                  <a:pt x="2236470" y="304800"/>
                </a:moveTo>
                <a:lnTo>
                  <a:pt x="2297430" y="304800"/>
                </a:lnTo>
                <a:moveTo>
                  <a:pt x="2348230" y="304800"/>
                </a:moveTo>
                <a:lnTo>
                  <a:pt x="2409190" y="304800"/>
                </a:lnTo>
                <a:moveTo>
                  <a:pt x="2459990" y="304800"/>
                </a:moveTo>
                <a:lnTo>
                  <a:pt x="2520950" y="304800"/>
                </a:lnTo>
                <a:moveTo>
                  <a:pt x="2571750" y="304800"/>
                </a:moveTo>
                <a:lnTo>
                  <a:pt x="2632710" y="304800"/>
                </a:lnTo>
                <a:moveTo>
                  <a:pt x="2683510" y="304800"/>
                </a:moveTo>
                <a:lnTo>
                  <a:pt x="2744470" y="304800"/>
                </a:lnTo>
                <a:moveTo>
                  <a:pt x="2795270" y="304800"/>
                </a:moveTo>
                <a:lnTo>
                  <a:pt x="2856230" y="304800"/>
                </a:lnTo>
                <a:moveTo>
                  <a:pt x="2907030" y="304800"/>
                </a:moveTo>
                <a:lnTo>
                  <a:pt x="2967990" y="304800"/>
                </a:lnTo>
                <a:moveTo>
                  <a:pt x="3018790" y="304800"/>
                </a:moveTo>
                <a:lnTo>
                  <a:pt x="3079750" y="304800"/>
                </a:lnTo>
                <a:moveTo>
                  <a:pt x="3130550" y="304800"/>
                </a:moveTo>
                <a:lnTo>
                  <a:pt x="3191510" y="304800"/>
                </a:lnTo>
                <a:moveTo>
                  <a:pt x="3242310" y="304800"/>
                </a:moveTo>
                <a:lnTo>
                  <a:pt x="3303270" y="304800"/>
                </a:lnTo>
                <a:moveTo>
                  <a:pt x="3354070" y="304800"/>
                </a:moveTo>
                <a:lnTo>
                  <a:pt x="3415030" y="304800"/>
                </a:lnTo>
                <a:moveTo>
                  <a:pt x="3465830" y="304800"/>
                </a:moveTo>
                <a:lnTo>
                  <a:pt x="3526790" y="304800"/>
                </a:lnTo>
                <a:moveTo>
                  <a:pt x="3577590" y="304800"/>
                </a:moveTo>
                <a:lnTo>
                  <a:pt x="3638550" y="304800"/>
                </a:lnTo>
                <a:moveTo>
                  <a:pt x="3689350" y="304800"/>
                </a:moveTo>
                <a:lnTo>
                  <a:pt x="3750310" y="304800"/>
                </a:lnTo>
                <a:moveTo>
                  <a:pt x="3801110" y="304800"/>
                </a:moveTo>
                <a:lnTo>
                  <a:pt x="3862070" y="304800"/>
                </a:lnTo>
                <a:moveTo>
                  <a:pt x="3912870" y="304800"/>
                </a:moveTo>
                <a:lnTo>
                  <a:pt x="3973830" y="304800"/>
                </a:lnTo>
                <a:moveTo>
                  <a:pt x="4024630" y="304800"/>
                </a:moveTo>
                <a:lnTo>
                  <a:pt x="4085590" y="304800"/>
                </a:lnTo>
                <a:moveTo>
                  <a:pt x="4136390" y="304800"/>
                </a:moveTo>
                <a:lnTo>
                  <a:pt x="4197350" y="304800"/>
                </a:lnTo>
                <a:moveTo>
                  <a:pt x="4248150" y="304800"/>
                </a:moveTo>
                <a:lnTo>
                  <a:pt x="4309110" y="304800"/>
                </a:lnTo>
                <a:moveTo>
                  <a:pt x="4359910" y="304800"/>
                </a:moveTo>
                <a:lnTo>
                  <a:pt x="4420870" y="304800"/>
                </a:lnTo>
                <a:moveTo>
                  <a:pt x="4471670" y="304800"/>
                </a:moveTo>
                <a:lnTo>
                  <a:pt x="4532630" y="304800"/>
                </a:lnTo>
                <a:moveTo>
                  <a:pt x="4583430" y="304800"/>
                </a:moveTo>
                <a:lnTo>
                  <a:pt x="4644390" y="304800"/>
                </a:lnTo>
                <a:moveTo>
                  <a:pt x="4695190" y="304800"/>
                </a:moveTo>
                <a:lnTo>
                  <a:pt x="4756150" y="304800"/>
                </a:lnTo>
                <a:moveTo>
                  <a:pt x="4806950" y="304800"/>
                </a:moveTo>
                <a:lnTo>
                  <a:pt x="4867910" y="304800"/>
                </a:lnTo>
                <a:moveTo>
                  <a:pt x="4918710" y="304800"/>
                </a:moveTo>
                <a:lnTo>
                  <a:pt x="4953000" y="304800"/>
                </a:lnTo>
                <a:lnTo>
                  <a:pt x="4953000" y="278130"/>
                </a:lnTo>
                <a:moveTo>
                  <a:pt x="4953000" y="227330"/>
                </a:moveTo>
                <a:lnTo>
                  <a:pt x="4953000" y="166370"/>
                </a:lnTo>
                <a:moveTo>
                  <a:pt x="4953000" y="115570"/>
                </a:moveTo>
                <a:lnTo>
                  <a:pt x="4953000" y="54610"/>
                </a:lnTo>
                <a:moveTo>
                  <a:pt x="4953000" y="3810"/>
                </a:moveTo>
                <a:lnTo>
                  <a:pt x="4953000" y="0"/>
                </a:lnTo>
              </a:path>
            </a:pathLst>
          </a:custGeom>
          <a:solidFill>
            <a:srgbClr val="000000">
              <a:alpha val="0"/>
            </a:srgbClr>
          </a:solidFill>
          <a:ln w="25400" cap="flat" cmpd="sng">
            <a:solidFill>
              <a:srgbClr val="8A8F94">
                <a:alpha val="100000"/>
              </a:srgbClr>
            </a:solidFill>
            <a:prstDash val="solid"/>
            <a:miter lim="400000"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Freeform 33"/>
          <p:cNvSpPr/>
          <p:nvPr/>
        </p:nvSpPr>
        <p:spPr>
          <a:xfrm>
            <a:off x="9606280" y="3496056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40" h="91440">
                <a:moveTo>
                  <a:pt x="0" y="91440"/>
                </a:moveTo>
                <a:lnTo>
                  <a:pt x="45720" y="0"/>
                </a:lnTo>
                <a:lnTo>
                  <a:pt x="91440" y="91440"/>
                </a:lnTo>
                <a:close/>
              </a:path>
            </a:pathLst>
          </a:custGeom>
          <a:solidFill>
            <a:srgbClr val="8A8F94">
              <a:alpha val="100000"/>
            </a:srgbClr>
          </a:solidFill>
          <a:ln cap="flat" cmpd="sng">
            <a:solidFill>
              <a:srgbClr val="000000">
                <a:alpha val="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 txBox="1"/>
          <p:nvPr/>
        </p:nvSpPr>
        <p:spPr>
          <a:xfrm>
            <a:off x="6581140" y="3887470"/>
            <a:ext cx="800100" cy="177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marL="0" indent="0" algn="l" defTabSz="596900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E19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兜底入库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4572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06 / KNOWLEDGE BASE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11200" y="8382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26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本地检索：中文 TF-IDF + 余弦相似度，零外部依赖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1543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11200" y="18542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中文分词策略（示例）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" y="2286000"/>
            <a:ext cx="5029200" cy="152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914400" y="2489200"/>
            <a:ext cx="4648200" cy="1168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输入：“水稻老叶发黄”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CJK 单字：水 稻 老 叶 发 黄</a:t>
            </a:r>
            <a:endParaRPr lang="en-US" sz="12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相邻双字：水稻 稻老 老叶 叶发 发黄</a:t>
            </a:r>
            <a:endParaRPr lang="en-US" sz="12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拉丁词：N P K Ca Mg ...（元素符号直配）</a:t>
            </a:r>
            <a:endParaRPr lang="en-US" sz="12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711200" y="4013200"/>
            <a:ext cx="50292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3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词频 tf 与逆文档频率 idf 相乘得到权重；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3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症状向量与 12 类缺素条目向量求余弦，</a:t>
            </a:r>
            <a:endParaRPr lang="en-US" sz="13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3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输出 0-1 置信度并排序。</a:t>
            </a:r>
            <a:endParaRPr lang="en-US" sz="13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 txBox="1"/>
          <p:nvPr/>
        </p:nvSpPr>
        <p:spPr>
          <a:xfrm>
            <a:off x="6350000" y="1854200"/>
            <a:ext cx="5130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核心公式（VectorRetrieval.java）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286000"/>
            <a:ext cx="5130800" cy="2413000"/>
          </a:xfrm>
          <a:prstGeom prst="roundRect">
            <a:avLst>
              <a:gd name="adj" fmla="val 31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AutoShape 11"/>
              <p:cNvSpPr txBox="1"/>
              <p:nvPr/>
            </p:nvSpPr>
            <p:spPr>
              <a:xfrm>
                <a:off x="6604000" y="2489200"/>
                <a:ext cx="4622800" cy="838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ctr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sz="1600">
                          <a:solidFill>
                            <a:srgbClr val="2E32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t</m:t>
                      </m:r>
                      <m:r>
                        <m:rPr>
                          <m:sty m:val="p"/>
                        </m:rPr>
                        <a:rPr sz="1600">
                          <a:solidFill>
                            <a:srgbClr val="2E32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f</m:t>
                      </m:r>
                      <m:r>
                        <m:rPr>
                          <m:nor/>
                        </m:rPr>
                        <a:rPr sz="1600">
                          <a:solidFill>
                            <a:srgbClr val="2E32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-</m:t>
                      </m:r>
                      <m:r>
                        <m:rPr>
                          <m:sty m:val="p"/>
                        </m:rPr>
                        <a:rPr sz="1600">
                          <a:solidFill>
                            <a:srgbClr val="2E32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i</m:t>
                      </m:r>
                      <m:r>
                        <m:rPr>
                          <m:sty m:val="p"/>
                        </m:rPr>
                        <a:rPr sz="1600">
                          <a:solidFill>
                            <a:srgbClr val="2E32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d</m:t>
                      </m:r>
                      <m:r>
                        <m:rPr>
                          <m:sty m:val="p"/>
                        </m:rPr>
                        <a:rPr sz="1600">
                          <a:solidFill>
                            <a:srgbClr val="2E32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f</m:t>
                      </m:r>
                      <m:d>
                        <m:dPr>
                          <m:sepChr m:val=","/>
                          <m:ctrlPr>
                            <a:rPr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sz="1600">
                              <a:solidFill>
                                <a:srgbClr val="2E3238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t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sz="1600">
                              <a:solidFill>
                                <a:srgbClr val="2E3238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d</m:t>
                          </m:r>
                        </m:e>
                      </m:d>
                      <m:r>
                        <a:rPr sz="1600">
                          <a:solidFill>
                            <a:srgbClr val="2E32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=</m:t>
                      </m:r>
                      <m:r>
                        <m:rPr>
                          <m:sty m:val="p"/>
                        </m:rPr>
                        <a:rPr sz="1600">
                          <a:solidFill>
                            <a:srgbClr val="2E32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t</m:t>
                      </m:r>
                      <m:r>
                        <m:rPr>
                          <m:sty m:val="p"/>
                        </m:rPr>
                        <a:rPr sz="1600">
                          <a:solidFill>
                            <a:srgbClr val="2E32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f</m:t>
                      </m:r>
                      <m:d>
                        <m:dPr>
                          <m:sepChr m:val=","/>
                          <m:ctrlPr>
                            <a:rPr/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sz="1600">
                              <a:solidFill>
                                <a:srgbClr val="2E3238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t</m:t>
                          </m:r>
                        </m:e>
                        <m:e>
                          <m:r>
                            <m:rPr>
                              <m:sty m:val="p"/>
                            </m:rPr>
                            <a:rPr sz="1600">
                              <a:solidFill>
                                <a:srgbClr val="2E3238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d</m:t>
                          </m:r>
                        </m:e>
                      </m:d>
                      <m:r>
                        <a:rPr sz="1600">
                          <a:solidFill>
                            <a:srgbClr val="2E32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⋅</m:t>
                      </m:r>
                      <m:r>
                        <m:rPr>
                          <m:sty m:val="p"/>
                        </m:rPr>
                        <a:rPr sz="1600">
                          <a:solidFill>
                            <a:srgbClr val="2E32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log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sz="1600">
                              <a:solidFill>
                                <a:srgbClr val="2E3238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N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sz="1600">
                              <a:solidFill>
                                <a:srgbClr val="2E3238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d</m:t>
                          </m:r>
                          <m:r>
                            <m:rPr>
                              <m:sty m:val="p"/>
                            </m:rPr>
                            <a:rPr sz="1600">
                              <a:solidFill>
                                <a:srgbClr val="2E3238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f</m:t>
                          </m:r>
                          <m:d>
                            <m:dPr>
                              <m:sepChr m:val=","/>
                              <m:ctrlPr>
                                <a:rPr/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sz="1600">
                                  <a:solidFill>
                                    <a:srgbClr val="2E3238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t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sz="1100"/>
              </a:p>
            </p:txBody>
          </p:sp>
        </mc:Choice>
        <mc:Fallback>
          <p:sp>
            <p:nvSpPr>
              <p:cNvPr id="11" name="AutoShape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0" y="2489200"/>
                <a:ext cx="4622800" cy="83820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AutoShape 12"/>
              <p:cNvSpPr txBox="1"/>
              <p:nvPr/>
            </p:nvSpPr>
            <p:spPr>
              <a:xfrm>
                <a:off x="6604000" y="3479800"/>
                <a:ext cx="4622800" cy="8382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ctr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sz="1600">
                          <a:solidFill>
                            <a:srgbClr val="2E32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cos</m:t>
                      </m:r>
                      <m:r>
                        <a:rPr sz="1600">
                          <a:solidFill>
                            <a:srgbClr val="2E32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𝜃</m:t>
                      </m:r>
                      <m:r>
                        <a:rPr sz="1600">
                          <a:solidFill>
                            <a:srgbClr val="2E3238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m:t>=</m:t>
                      </m:r>
                      <m:f>
                        <m:fPr>
                          <m:ctrlPr>
                            <a:rPr/>
                          </m:ctrlPr>
                        </m:fPr>
                        <m:num>
                          <m:nary>
                            <m:naryPr>
                              <m:chr m:val="∑"/>
                              <m:grow m:val="on"/>
                              <m:limLoc m:val="undOvr"/>
                              <m:supHide m:val="on"/>
                              <m:ctrlPr>
                                <a:rPr/>
                              </m:ctrlPr>
                            </m:naryPr>
                            <m:sub>
                              <m:r>
                                <a:rPr sz="1600">
                                  <a:solidFill>
                                    <a:srgbClr val="2E3238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𝑖</m:t>
                              </m:r>
                            </m:sub>
                            <m:sup>
                              <m:r>
                                <a:rPr sz="1600">
                                  <a:solidFill>
                                    <a:srgbClr val="2E3238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⁣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/>
                                  </m:ctrlPr>
                                </m:sSubPr>
                                <m:e>
                                  <m:r>
                                    <a:rPr sz="1600">
                                      <a:solidFill>
                                        <a:srgbClr val="2E3238"/>
                                      </a:solidFill>
                                      <a:latin typeface="Noto Sans SC" panose="020B0200000000000000" charset="-122"/>
                                      <a:ea typeface="Noto Sans SC" panose="020B0200000000000000" charset="-122"/>
                                      <a:cs typeface="Noto Sans SC" panose="020B0200000000000000" charset="-122"/>
                                      <a:sym typeface="Noto Sans SC" panose="020B0200000000000000" charset="-122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sz="1600">
                                      <a:solidFill>
                                        <a:srgbClr val="2E3238"/>
                                      </a:solidFill>
                                      <a:latin typeface="Noto Sans SC" panose="020B0200000000000000" charset="-122"/>
                                      <a:ea typeface="Noto Sans SC" panose="020B0200000000000000" charset="-122"/>
                                      <a:cs typeface="Noto Sans SC" panose="020B0200000000000000" charset="-122"/>
                                      <a:sym typeface="Noto Sans SC" panose="020B0200000000000000" charset="-122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/>
                              </m:ctrlPr>
                            </m:sSubPr>
                            <m:e>
                              <m:r>
                                <a:rPr sz="1600">
                                  <a:solidFill>
                                    <a:srgbClr val="2E3238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sz="1600">
                                  <a:solidFill>
                                    <a:srgbClr val="2E3238"/>
                                  </a:solidFill>
                                  <a:latin typeface="Noto Sans SC" panose="020B0200000000000000" charset="-122"/>
                                  <a:ea typeface="Noto Sans SC" panose="020B0200000000000000" charset="-122"/>
                                  <a:cs typeface="Noto Sans SC" panose="020B0200000000000000" charset="-122"/>
                                  <a:sym typeface="Noto Sans SC" panose="020B0200000000000000" charset="-122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ad>
                            <m:radPr>
                              <m:degHide m:val="on"/>
                              <m:ctrlPr>
                                <a:rPr/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grow m:val="on"/>
                                  <m:limLoc m:val="undOvr"/>
                                  <m:supHide m:val="on"/>
                                  <m:ctrlPr>
                                    <a:rPr/>
                                  </m:ctrlPr>
                                </m:naryPr>
                                <m:sub>
                                  <m:r>
                                    <a:rPr sz="1600">
                                      <a:solidFill>
                                        <a:srgbClr val="2E3238"/>
                                      </a:solidFill>
                                      <a:latin typeface="Noto Sans SC" panose="020B0200000000000000" charset="-122"/>
                                      <a:ea typeface="Noto Sans SC" panose="020B0200000000000000" charset="-122"/>
                                      <a:cs typeface="Noto Sans SC" panose="020B0200000000000000" charset="-122"/>
                                      <a:sym typeface="Noto Sans SC" panose="020B0200000000000000" charset="-122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sz="1600">
                                      <a:solidFill>
                                        <a:srgbClr val="2E3238"/>
                                      </a:solidFill>
                                      <a:latin typeface="Noto Sans SC" panose="020B0200000000000000" charset="-122"/>
                                      <a:ea typeface="Noto Sans SC" panose="020B0200000000000000" charset="-122"/>
                                      <a:cs typeface="Noto Sans SC" panose="020B0200000000000000" charset="-122"/>
                                      <a:sym typeface="Noto Sans SC" panose="020B0200000000000000" charset="-122"/>
                                    </a:rPr>
                                    <m:t>⁣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/>
                                      </m:ctrlPr>
                                    </m:sSubSupPr>
                                    <m:e>
                                      <m:r>
                                        <a:rPr sz="1600">
                                          <a:solidFill>
                                            <a:srgbClr val="2E3238"/>
                                          </a:solidFill>
                                          <a:latin typeface="Noto Sans SC" panose="020B0200000000000000" charset="-122"/>
                                          <a:ea typeface="Noto Sans SC" panose="020B0200000000000000" charset="-122"/>
                                          <a:cs typeface="Noto Sans SC" panose="020B0200000000000000" charset="-122"/>
                                          <a:sym typeface="Noto Sans SC" panose="020B0200000000000000" charset="-122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sz="1600">
                                          <a:solidFill>
                                            <a:srgbClr val="2E3238"/>
                                          </a:solidFill>
                                          <a:latin typeface="Noto Sans SC" panose="020B0200000000000000" charset="-122"/>
                                          <a:ea typeface="Noto Sans SC" panose="020B0200000000000000" charset="-122"/>
                                          <a:cs typeface="Noto Sans SC" panose="020B0200000000000000" charset="-122"/>
                                          <a:sym typeface="Noto Sans SC" panose="020B0200000000000000" charset="-122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sz="1600">
                                          <a:solidFill>
                                            <a:srgbClr val="2E3238"/>
                                          </a:solidFill>
                                          <a:latin typeface="Noto Sans SC" panose="020B0200000000000000" charset="-122"/>
                                          <a:ea typeface="Noto Sans SC" panose="020B0200000000000000" charset="-122"/>
                                          <a:cs typeface="Noto Sans SC" panose="020B0200000000000000" charset="-122"/>
                                          <a:sym typeface="Noto Sans SC" panose="020B0200000000000000" charset="-122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rad>
                          <m:r>
                            <a:rPr sz="1600">
                              <a:solidFill>
                                <a:srgbClr val="2E3238"/>
                              </a:solidFill>
                              <a:latin typeface="Noto Sans SC" panose="020B0200000000000000" charset="-122"/>
                              <a:ea typeface="Noto Sans SC" panose="020B0200000000000000" charset="-122"/>
                              <a:cs typeface="Noto Sans SC" panose="020B0200000000000000" charset="-122"/>
                              <a:sym typeface="Noto Sans SC" panose="020B0200000000000000" charset="-122"/>
                            </a:rPr>
                            <m:t>⋅</m:t>
                          </m:r>
                          <m:rad>
                            <m:radPr>
                              <m:degHide m:val="on"/>
                              <m:ctrlPr>
                                <a:rPr/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grow m:val="on"/>
                                  <m:limLoc m:val="undOvr"/>
                                  <m:supHide m:val="on"/>
                                  <m:ctrlPr>
                                    <a:rPr/>
                                  </m:ctrlPr>
                                </m:naryPr>
                                <m:sub>
                                  <m:r>
                                    <a:rPr sz="1600">
                                      <a:solidFill>
                                        <a:srgbClr val="2E3238"/>
                                      </a:solidFill>
                                      <a:latin typeface="Noto Sans SC" panose="020B0200000000000000" charset="-122"/>
                                      <a:ea typeface="Noto Sans SC" panose="020B0200000000000000" charset="-122"/>
                                      <a:cs typeface="Noto Sans SC" panose="020B0200000000000000" charset="-122"/>
                                      <a:sym typeface="Noto Sans SC" panose="020B0200000000000000" charset="-122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sz="1600">
                                      <a:solidFill>
                                        <a:srgbClr val="2E3238"/>
                                      </a:solidFill>
                                      <a:latin typeface="Noto Sans SC" panose="020B0200000000000000" charset="-122"/>
                                      <a:ea typeface="Noto Sans SC" panose="020B0200000000000000" charset="-122"/>
                                      <a:cs typeface="Noto Sans SC" panose="020B0200000000000000" charset="-122"/>
                                      <a:sym typeface="Noto Sans SC" panose="020B0200000000000000" charset="-122"/>
                                    </a:rPr>
                                    <m:t>⁣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/>
                                      </m:ctrlPr>
                                    </m:sSubSupPr>
                                    <m:e>
                                      <m:r>
                                        <a:rPr sz="1600">
                                          <a:solidFill>
                                            <a:srgbClr val="2E3238"/>
                                          </a:solidFill>
                                          <a:latin typeface="Noto Sans SC" panose="020B0200000000000000" charset="-122"/>
                                          <a:ea typeface="Noto Sans SC" panose="020B0200000000000000" charset="-122"/>
                                          <a:cs typeface="Noto Sans SC" panose="020B0200000000000000" charset="-122"/>
                                          <a:sym typeface="Noto Sans SC" panose="020B0200000000000000" charset="-122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sz="1600">
                                          <a:solidFill>
                                            <a:srgbClr val="2E3238"/>
                                          </a:solidFill>
                                          <a:latin typeface="Noto Sans SC" panose="020B0200000000000000" charset="-122"/>
                                          <a:ea typeface="Noto Sans SC" panose="020B0200000000000000" charset="-122"/>
                                          <a:cs typeface="Noto Sans SC" panose="020B0200000000000000" charset="-122"/>
                                          <a:sym typeface="Noto Sans SC" panose="020B0200000000000000" charset="-122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sz="1600">
                                          <a:solidFill>
                                            <a:srgbClr val="2E3238"/>
                                          </a:solidFill>
                                          <a:latin typeface="Noto Sans SC" panose="020B0200000000000000" charset="-122"/>
                                          <a:ea typeface="Noto Sans SC" panose="020B0200000000000000" charset="-122"/>
                                          <a:cs typeface="Noto Sans SC" panose="020B0200000000000000" charset="-122"/>
                                          <a:sym typeface="Noto Sans SC" panose="020B0200000000000000" charset="-122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nary>
                            </m:e>
                          </m:rad>
                        </m:den>
                      </m:f>
                    </m:oMath>
                  </m:oMathPara>
                </a14:m>
                <a:endParaRPr lang="en-US" sz="1100"/>
              </a:p>
            </p:txBody>
          </p:sp>
        </mc:Choice>
        <mc:Fallback>
          <p:sp>
            <p:nvSpPr>
              <p:cNvPr id="12" name="AutoShap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0" y="3479800"/>
                <a:ext cx="4622800" cy="838200"/>
              </a:xfrm>
              <a:prstGeom prst="rect">
                <a:avLst/>
              </a:prstGeom>
              <a:blipFill rotWithShape="1">
                <a:blip r:embed="rId2"/>
                <a:stretch>
                  <a:fillRect t="-7727" b="-7803"/>
                </a:stretch>
              </a:blipFill>
              <a:ln w="12700" cap="flat" cmpd="sng">
                <a:noFill/>
                <a:prstDash val="solid"/>
                <a:rou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AutoShape 13"/>
          <p:cNvSpPr txBox="1"/>
          <p:nvPr/>
        </p:nvSpPr>
        <p:spPr>
          <a:xfrm>
            <a:off x="6604000" y="4267200"/>
            <a:ext cx="46228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 为条目总数，df(t) 为含词 t 的条目数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4053">
            <a:off x="711204" y="56324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711200" y="5816600"/>
            <a:ext cx="10769600" cy="508000"/>
          </a:xfrm>
          <a:prstGeom prst="roundRect">
            <a:avLst>
              <a:gd name="adj" fmla="val 15000"/>
            </a:avLst>
          </a:prstGeom>
          <a:solidFill>
            <a:srgbClr val="E8F0E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965200" y="59182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鲁棒性：全部本地计算、无网络依赖，支撑“无 Key 也能演示”；12 条目比对毫秒级完成。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711200" y="6502400"/>
            <a:ext cx="10769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实现：VectorRetrieval.java；词表随 knowledge.json 增量构建，2026-10-21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457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07 / AGENT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11200" y="8382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26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langchain4j 编排 + 三态降级：知识库事实优先，演示永不中断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1543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11200" y="1727200"/>
            <a:ext cx="1076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请求链路（tech / farmer 一致）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" y="2108200"/>
            <a:ext cx="1905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889000" y="2235200"/>
            <a:ext cx="1549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输入</a:t>
            </a:r>
            <a:endParaRPr lang="en-US" sz="1200" b="1" i="0" u="none" strike="noStrike">
              <a:solidFill>
                <a:srgbClr val="1B5E2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819400" y="2108200"/>
            <a:ext cx="1905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 txBox="1"/>
          <p:nvPr/>
        </p:nvSpPr>
        <p:spPr>
          <a:xfrm>
            <a:off x="2997200" y="2235200"/>
            <a:ext cx="1549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RAG 检索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 Top-K 片段</a:t>
            </a:r>
            <a:endParaRPr lang="en-US" sz="1200" b="1" i="0" u="none" strike="noStrike">
              <a:solidFill>
                <a:srgbClr val="1B5E2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927600" y="2108200"/>
            <a:ext cx="1905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 txBox="1"/>
          <p:nvPr/>
        </p:nvSpPr>
        <p:spPr>
          <a:xfrm>
            <a:off x="5105400" y="2235200"/>
            <a:ext cx="1549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上下文注入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条目 + 模板</a:t>
            </a:r>
            <a:endParaRPr lang="en-US" sz="1200" b="1" i="0" u="none" strike="noStrike">
              <a:solidFill>
                <a:srgbClr val="1B5E2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035800" y="2108200"/>
            <a:ext cx="1905000" cy="1016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7213600" y="2235200"/>
            <a:ext cx="1549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2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整理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可选 · 失败降级</a:t>
            </a:r>
            <a:endParaRPr lang="en-US" sz="1200" b="1" i="0" u="none" strike="noStrike">
              <a:solidFill>
                <a:srgbClr val="1B5E2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144000" y="2108200"/>
            <a:ext cx="1905000" cy="1016000"/>
          </a:xfrm>
          <a:prstGeom prst="roundRect">
            <a:avLst>
              <a:gd name="adj" fmla="val 7500"/>
            </a:avLst>
          </a:prstGeom>
          <a:solidFill>
            <a:srgbClr val="2E7D32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 txBox="1"/>
          <p:nvPr/>
        </p:nvSpPr>
        <p:spPr>
          <a:xfrm>
            <a:off x="9321800" y="2235200"/>
            <a:ext cx="15494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结构化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 返回</a:t>
            </a:r>
            <a:endParaRPr lang="en-US" sz="13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-427500">
            <a:off x="2667395" y="2609850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E7D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7" name="Connector 17"/>
          <p:cNvCxnSpPr/>
          <p:nvPr/>
        </p:nvCxnSpPr>
        <p:spPr>
          <a:xfrm rot="-427500">
            <a:off x="4775595" y="2609850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E7D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8" name="Connector 18"/>
          <p:cNvCxnSpPr/>
          <p:nvPr/>
        </p:nvCxnSpPr>
        <p:spPr>
          <a:xfrm rot="-427500">
            <a:off x="6883795" y="2609850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E7D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19" name="Connector 19"/>
          <p:cNvCxnSpPr/>
          <p:nvPr/>
        </p:nvCxnSpPr>
        <p:spPr>
          <a:xfrm rot="-427500">
            <a:off x="8991995" y="2609850"/>
            <a:ext cx="101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E7D32">
                <a:alpha val="10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  <p:cxnSp>
        <p:nvCxnSpPr>
          <p:cNvPr id="20" name="Connector 20"/>
          <p:cNvCxnSpPr/>
          <p:nvPr/>
        </p:nvCxnSpPr>
        <p:spPr>
          <a:xfrm rot="-4053">
            <a:off x="711204" y="3371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 txBox="1"/>
          <p:nvPr/>
        </p:nvSpPr>
        <p:spPr>
          <a:xfrm>
            <a:off x="711200" y="3530600"/>
            <a:ext cx="1076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三态降级设计（LLM 与渲染链路解耦）</a:t>
            </a:r>
            <a:endParaRPr lang="en-US" sz="1100"/>
          </a:p>
        </p:txBody>
      </p:sp>
      <p:graphicFrame>
        <p:nvGraphicFramePr>
          <p:cNvPr id="22" name="Table 22"/>
          <p:cNvGraphicFramePr>
            <a:graphicFrameLocks noGrp="1"/>
          </p:cNvGraphicFramePr>
          <p:nvPr/>
        </p:nvGraphicFramePr>
        <p:xfrm>
          <a:off x="711200" y="3886200"/>
          <a:ext cx="10769600" cy="1600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3683000"/>
                <a:gridCol w="4800600"/>
              </a:tblGrid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状态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7D3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触发条件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7D3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系统行为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7D32">
                        <a:alpha val="100000"/>
                      </a:srgbClr>
                    </a:solidFill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态 1 · 无 Key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llm.enabled=false 或占位 Key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跳过 LLM，纯本地规则渲染 —— 演示默认态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33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态 2 · 调用失败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超时 / 限流 / 网络中断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捕获异常自动降级规则渲染，接口仍返回 200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3" name="AutoShape 23"/>
          <p:cNvSpPr txBox="1"/>
          <p:nvPr/>
        </p:nvSpPr>
        <p:spPr>
          <a:xfrm>
            <a:off x="711200" y="5537200"/>
            <a:ext cx="107696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态 3 · Key 正常：注入上下文，LLM 润色整理，仍以知识库事实为准、不改数据。LLM 是可选增强，不是必需路径。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4053">
            <a:off x="711204" y="5988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AutoShape 25"/>
          <p:cNvSpPr txBox="1"/>
          <p:nvPr/>
        </p:nvSpPr>
        <p:spPr>
          <a:xfrm>
            <a:off x="711200" y="6146800"/>
            <a:ext cx="1076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2E7D32"/>
                </a:solidFill>
                <a:latin typeface="Roboto Mono"/>
                <a:ea typeface="Roboto Mono"/>
                <a:cs typeface="Roboto Mono"/>
                <a:sym typeface="Roboto Mono"/>
              </a:rPr>
              <a:t>环境：Spring Boot 3.5.4 · langchain4j 1.20.2 · OpenAI 兼容 · DeepSeek base-url 可配</a:t>
            </a:r>
            <a:endParaRPr lang="en-US" sz="1100"/>
          </a:p>
        </p:txBody>
      </p:sp>
      <p:sp>
        <p:nvSpPr>
          <p:cNvPr id="26" name="AutoShape 26"/>
          <p:cNvSpPr txBox="1"/>
          <p:nvPr/>
        </p:nvSpPr>
        <p:spPr>
          <a:xfrm>
            <a:off x="711200" y="6502400"/>
            <a:ext cx="10769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实现：AgentService.java 编排 · LlmProperties/AgentConfig · application.yml，2026-10-21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457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08 / VALUES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11200" y="8382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26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课程思政自然融入：随业务输出，不弹窗、不打断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1543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11200" y="1854200"/>
            <a:ext cx="3251200" cy="2667000"/>
          </a:xfrm>
          <a:prstGeom prst="roundRect">
            <a:avLst>
              <a:gd name="adj" fmla="val 28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 txBox="1"/>
          <p:nvPr/>
        </p:nvSpPr>
        <p:spPr>
          <a:xfrm>
            <a:off x="889000" y="2032000"/>
            <a:ext cx="2895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形式 1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农技人物故事</a:t>
            </a:r>
            <a:endParaRPr lang="en-US" sz="1400" b="1" i="0" u="none" strike="noStrike">
              <a:solidFill>
                <a:srgbClr val="1B5E2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15346">
            <a:off x="914414" y="2813050"/>
            <a:ext cx="284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889000" y="2971800"/>
            <a:ext cx="28956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土壤肥料与农技推广工作者扎根田间的奉献叙事，让“科技工作者”的形象可感。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191000" y="1854200"/>
            <a:ext cx="3251200" cy="2667000"/>
          </a:xfrm>
          <a:prstGeom prst="roundRect">
            <a:avLst>
              <a:gd name="adj" fmla="val 28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4368800" y="2032000"/>
            <a:ext cx="2895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形式 2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粮食安全引导</a:t>
            </a:r>
            <a:endParaRPr lang="en-US" sz="1400" b="1" i="0" u="none" strike="noStrike">
              <a:solidFill>
                <a:srgbClr val="1B5E2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15346">
            <a:off x="4394214" y="2813050"/>
            <a:ext cx="284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4368800" y="2971800"/>
            <a:ext cx="28956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测土配方、化肥减量增效、守护国家粮食安全——每次建议都带价值导向。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70800" y="1854200"/>
            <a:ext cx="3251200" cy="2667000"/>
          </a:xfrm>
          <a:prstGeom prst="roundRect">
            <a:avLst>
              <a:gd name="adj" fmla="val 285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7848600" y="2032000"/>
            <a:ext cx="2895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形式 3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绿色农业理念</a:t>
            </a:r>
            <a:endParaRPr lang="en-US" sz="1400" b="1" i="0" u="none" strike="noStrike">
              <a:solidFill>
                <a:srgbClr val="1B5E2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5" name="Connector 15"/>
          <p:cNvCxnSpPr/>
          <p:nvPr/>
        </p:nvCxnSpPr>
        <p:spPr>
          <a:xfrm rot="-15346">
            <a:off x="7874014" y="2813050"/>
            <a:ext cx="28448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 txBox="1"/>
          <p:nvPr/>
        </p:nvSpPr>
        <p:spPr>
          <a:xfrm>
            <a:off x="7848600" y="2971800"/>
            <a:ext cx="2895600" cy="1371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“用 AI 给农田做体检”是科技助农、藏粮于地的新方式，激发青年投身智慧农业。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4053">
            <a:off x="711204" y="48196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711200" y="4978400"/>
            <a:ext cx="10769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真实输出摘录（education 字段，缺氮条目）：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11200" y="5359400"/>
            <a:ext cx="10769600" cy="787400"/>
          </a:xfrm>
          <a:prstGeom prst="roundRect">
            <a:avLst>
              <a:gd name="adj" fmla="val 9677"/>
            </a:avLst>
          </a:prstGeom>
          <a:solidFill>
            <a:srgbClr val="E8F0E9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 txBox="1"/>
          <p:nvPr/>
        </p:nvSpPr>
        <p:spPr>
          <a:xfrm>
            <a:off x="965200" y="5461000"/>
            <a:ext cx="10261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“一代代土壤肥料与农技推广工作者扎根田间，推动测土配方施肥、化肥减量增效，守护国家粮食安全。当代青年用 AI 给农田做‘体检’，正是科技助农、藏粮于地的新方式。”</a:t>
            </a:r>
            <a:endParaRPr lang="en-US" sz="1100"/>
          </a:p>
        </p:txBody>
      </p:sp>
      <p:sp>
        <p:nvSpPr>
          <p:cNvPr id="21" name="AutoShape 21"/>
          <p:cNvSpPr txBox="1"/>
          <p:nvPr/>
        </p:nvSpPr>
        <p:spPr>
          <a:xfrm>
            <a:off x="711200" y="6502400"/>
            <a:ext cx="10769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设计原则：思政内容随识别结果自然呈现 1-2 行，不弹窗、不打断操作；12 个条目均内置 education 字段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457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09 / INNOVATION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11200" y="8382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26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四项创新点总览：双模板 × 科普卡 × 风险预警 × 统计看板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1543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11200" y="1778000"/>
          <a:ext cx="107696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2667000"/>
                <a:gridCol w="1905000"/>
                <a:gridCol w="4673600"/>
              </a:tblGrid>
              <a:tr h="508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编号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7D3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创新点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7D3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类型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7D3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具体表现与价值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7D32">
                        <a:alpha val="100000"/>
                      </a:srgbClr>
                    </a:solidFill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01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双模板输出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场景创新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farmer 口语化简易版 / tech 六字段农技版；同一诊断两种口吻，覆盖农户与农技两类用户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缺素科普小卡片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场景创新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scienceCard 用通俗比喻解释缺素机理，科普下沉到田间，随结果自然呈现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03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养分缺乏风险预警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能力创新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环境词（沙质/碱性/渍水/低温）→ 高/中/低风险 + 安全减量提示，源头防范面源污染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2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04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高频查询统计看板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工程创新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/api/stats 实时统计查询频次与元素分布，支撑农情监测与教学复盘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6" name="Connector 6"/>
          <p:cNvCxnSpPr/>
          <p:nvPr/>
        </p:nvCxnSpPr>
        <p:spPr>
          <a:xfrm rot="-4053">
            <a:off x="711204" y="56324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 txBox="1"/>
          <p:nvPr/>
        </p:nvSpPr>
        <p:spPr>
          <a:xfrm>
            <a:off x="711200" y="5791200"/>
            <a:ext cx="10769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四项创新点全部随产品真实运行产生，非演示特制；下一页给出实现证据。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711200" y="6502400"/>
            <a:ext cx="10769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需求文档要求“PPT 必须明确阐述创新点”，本页为总览，第 13 页为实现证据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457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09 / INNOVATION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11200" y="8382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26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创新点实现证据：代码位置 + 实测数据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1543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11200" y="1778000"/>
            <a:ext cx="5029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 01 + 02 · 双模板与科普卡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" y="2159000"/>
            <a:ext cx="5029200" cy="2540000"/>
          </a:xfrm>
          <a:prstGeom prst="roundRect">
            <a:avLst>
              <a:gd name="adj" fmla="val 3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914400" y="2311400"/>
            <a:ext cx="4648200" cy="223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// TemplateRenderer.java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renderSimple(...) → farmer 简易版</a:t>
            </a:r>
            <a:endParaRPr lang="en-US" sz="12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renderTechnical(...) → tech 六字段版</a:t>
            </a:r>
            <a:endParaRPr lang="en-US" sz="12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// knowledge.json 每条内置</a:t>
            </a:r>
            <a:endParaRPr lang="en-US" sz="12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scienceCard（科普比喻）</a:t>
            </a:r>
            <a:endParaRPr lang="en-US" sz="12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education（思政语段）</a:t>
            </a:r>
            <a:endParaRPr lang="en-US" sz="12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实测：farmer/tech 两模式均已</a:t>
            </a:r>
            <a:endParaRPr lang="en-US" sz="12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返回真实摘录，见第 7 页</a:t>
            </a:r>
            <a:endParaRPr lang="en-US" sz="12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6350000" y="1778000"/>
            <a:ext cx="5130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 03 + 04 · 风险预警与统计看板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159000"/>
            <a:ext cx="5130800" cy="2540000"/>
          </a:xfrm>
          <a:prstGeom prst="roundRect">
            <a:avLst>
              <a:gd name="adj" fmla="val 3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6553200" y="2311400"/>
            <a:ext cx="4724400" cy="2235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1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// AgentService.java</a:t>
            </a:r>
            <a:endParaRPr lang="en-US" sz="1100"/>
          </a:p>
          <a:p>
            <a:pPr marL="0" indent="0" algn="l">
              <a:lnSpc>
                <a:spcPct val="121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riskLevel = 环境词匹配 → 高/中/低</a:t>
            </a:r>
            <a:endParaRPr lang="en-US" sz="12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实测：水稻缺氮 risk=中</a:t>
            </a:r>
            <a:endParaRPr lang="en-US" sz="12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玉米缺锌 risk=中</a:t>
            </a:r>
            <a:endParaRPr lang="en-US" sz="12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</a:p>
          <a:p>
            <a:pPr marL="0" indent="0" algn="l">
              <a:lnSpc>
                <a:spcPct val="121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// GET /api/stats</a:t>
            </a:r>
            <a:endParaRPr lang="en-US" sz="12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实测：total=5 氮=4 锌=1</a:t>
            </a:r>
            <a:endParaRPr lang="en-US" sz="12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1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前端“高频查询看板”实时渲染</a:t>
            </a:r>
            <a:endParaRPr lang="en-US" sz="12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4053">
            <a:off x="711204" y="50228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711200" y="5207000"/>
            <a:ext cx="10769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创新点都是“业务功能”而非“展示特技”：风险预警影响建议内容，统计看板是产品自带页面。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711200" y="5664200"/>
            <a:ext cx="107696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双模板与科普卡共用同一知识字段设计，新增成本近似为零。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711200" y="6502400"/>
            <a:ext cx="10769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来源：本地接口实测 /api/analyze、/api/stats，2026-10-21；代码文件见 crop-nutrient-agent/backend/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457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10 / VERIFY + DELIVERY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11200" y="8382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26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演示与交付：一键启动 · 健康检查 ok · 源码已推送 GitHub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1543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11200" y="1778000"/>
            <a:ext cx="5029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启动三步（现场演示路径）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" y="2159000"/>
            <a:ext cx="5029200" cy="1524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914400" y="2311400"/>
            <a:ext cx="4648200" cy="1219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1 双击 start.bat（自动探测便携/系统 Maven）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2 java -jar crop-nutrient-agent.jar</a:t>
            </a:r>
            <a:endParaRPr lang="en-US" sz="12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3 浏览器打开 localhost:8080</a:t>
            </a:r>
            <a:endParaRPr lang="en-US" sz="12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→ 无需安装任何依赖即可演示</a:t>
            </a:r>
            <a:endParaRPr lang="en-US" sz="12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711200" y="3860800"/>
            <a:ext cx="50292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目录：crawler/ · backend/ · README.md · start.bat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6350000" y="1778000"/>
            <a:ext cx="5130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验收实测清单（2026-10-21 本机）</a:t>
            </a:r>
            <a:endParaRPr lang="en-US" sz="110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6350000" y="2159000"/>
          <a:ext cx="5130800" cy="2032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489200"/>
                <a:gridCol w="2641600"/>
              </a:tblGrid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检查项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7D32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结果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E7D32">
                        <a:alpha val="100000"/>
                      </a:srgbClr>
                    </a:solidFill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/api/health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status=ok · entries=12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水稻缺氮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N 99% · 风险 中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玉米缺锌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Zn 99% · 风险 中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64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 Key 模式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llmUsed=false 正常出结果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1" name="Connector 11"/>
          <p:cNvCxnSpPr/>
          <p:nvPr/>
        </p:nvCxnSpPr>
        <p:spPr>
          <a:xfrm rot="-4053">
            <a:off x="711204" y="4464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711200" y="4648200"/>
            <a:ext cx="1076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 交付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1200" y="5003800"/>
            <a:ext cx="10769600" cy="939800"/>
          </a:xfrm>
          <a:prstGeom prst="roundRect">
            <a:avLst>
              <a:gd name="adj" fmla="val 810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 txBox="1"/>
          <p:nvPr/>
        </p:nvSpPr>
        <p:spPr>
          <a:xfrm>
            <a:off x="914400" y="5130800"/>
            <a:ext cx="10414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github.com/wh777-huan/OHCP-java-project1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2E3238"/>
                </a:solidFill>
                <a:latin typeface="Roboto Mono"/>
                <a:ea typeface="Roboto Mono"/>
                <a:cs typeface="Roboto Mono"/>
                <a:sym typeface="Roboto Mono"/>
              </a:rPr>
              <a:t>分支 lixinglin · 28 文件已推送复核 · 完整可运行源码 + README + 一键启动</a:t>
            </a:r>
            <a:endParaRPr lang="en-US" sz="1300" b="0" i="0" u="none" strike="noStrike">
              <a:solidFill>
                <a:srgbClr val="2E32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" name="AutoShape 15"/>
          <p:cNvSpPr txBox="1"/>
          <p:nvPr/>
        </p:nvSpPr>
        <p:spPr>
          <a:xfrm>
            <a:off x="711200" y="6146800"/>
            <a:ext cx="107696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诚实边界：赛场需在 application.yml 配置 LLM API Key；未配置自动降级，不影响任何演示环节。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711200" y="6502400"/>
            <a:ext cx="10769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验证方式：编译打包 jar → 本机启动 → 接口实测 → 前端页面逐项核对，2026-10-21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63"/>
          <p:cNvSpPr/>
          <p:nvPr/>
        </p:nvSpPr>
        <p:spPr>
          <a:xfrm>
            <a:off x="1505" y="0"/>
            <a:ext cx="12188990" cy="6856307"/>
          </a:xfrm>
          <a:prstGeom prst="rect">
            <a:avLst/>
          </a:prstGeom>
          <a:solidFill>
            <a:srgbClr val="F4F6F5"/>
          </a:solidFill>
          <a:ln>
            <a:noFill/>
          </a:ln>
        </p:spPr>
        <p:txBody>
          <a:bodyPr/>
          <a:p>
            <a:endParaRPr sz="1865"/>
          </a:p>
        </p:txBody>
      </p:sp>
      <p:sp>
        <p:nvSpPr>
          <p:cNvPr id="65" name="矩形 64"/>
          <p:cNvSpPr/>
          <p:nvPr/>
        </p:nvSpPr>
        <p:spPr>
          <a:xfrm>
            <a:off x="729458" y="1540553"/>
            <a:ext cx="10750012" cy="16929"/>
          </a:xfrm>
          <a:prstGeom prst="rect">
            <a:avLst/>
          </a:prstGeom>
          <a:solidFill>
            <a:srgbClr val="DDE3DE"/>
          </a:solidFill>
          <a:ln>
            <a:noFill/>
          </a:ln>
        </p:spPr>
        <p:txBody>
          <a:bodyPr/>
          <a:p>
            <a:endParaRPr sz="1865"/>
          </a:p>
        </p:txBody>
      </p:sp>
      <p:sp>
        <p:nvSpPr>
          <p:cNvPr id="66" name="矩形 65"/>
          <p:cNvSpPr/>
          <p:nvPr/>
        </p:nvSpPr>
        <p:spPr>
          <a:xfrm>
            <a:off x="712529" y="5552762"/>
            <a:ext cx="10766941" cy="575591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txBody>
          <a:bodyPr/>
          <a:p>
            <a:endParaRPr sz="1865"/>
          </a:p>
        </p:txBody>
      </p:sp>
      <p:sp>
        <p:nvSpPr>
          <p:cNvPr id="67" name="圆角矩形 66"/>
          <p:cNvSpPr/>
          <p:nvPr/>
        </p:nvSpPr>
        <p:spPr>
          <a:xfrm>
            <a:off x="712529" y="1828349"/>
            <a:ext cx="1997640" cy="3385831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DDE3DE"/>
            </a:solidFill>
            <a:prstDash val="solid"/>
          </a:ln>
        </p:spPr>
        <p:txBody>
          <a:bodyPr/>
          <a:p>
            <a:endParaRPr sz="1865"/>
          </a:p>
        </p:txBody>
      </p:sp>
      <p:sp>
        <p:nvSpPr>
          <p:cNvPr id="68" name="圆角矩形 67"/>
          <p:cNvSpPr/>
          <p:nvPr/>
        </p:nvSpPr>
        <p:spPr>
          <a:xfrm>
            <a:off x="2913319" y="1828349"/>
            <a:ext cx="1997640" cy="3385831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DDE3DE"/>
            </a:solidFill>
            <a:prstDash val="solid"/>
          </a:ln>
        </p:spPr>
        <p:txBody>
          <a:bodyPr/>
          <a:p>
            <a:endParaRPr sz="1865"/>
          </a:p>
        </p:txBody>
      </p:sp>
      <p:sp>
        <p:nvSpPr>
          <p:cNvPr id="69" name="圆角矩形 68"/>
          <p:cNvSpPr/>
          <p:nvPr/>
        </p:nvSpPr>
        <p:spPr>
          <a:xfrm>
            <a:off x="5114109" y="1828349"/>
            <a:ext cx="1997640" cy="3385831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DDE3DE"/>
            </a:solidFill>
            <a:prstDash val="solid"/>
          </a:ln>
        </p:spPr>
        <p:txBody>
          <a:bodyPr/>
          <a:p>
            <a:endParaRPr sz="1865"/>
          </a:p>
        </p:txBody>
      </p:sp>
      <p:sp>
        <p:nvSpPr>
          <p:cNvPr id="70" name="圆角矩形 69"/>
          <p:cNvSpPr/>
          <p:nvPr/>
        </p:nvSpPr>
        <p:spPr>
          <a:xfrm>
            <a:off x="7314899" y="1828349"/>
            <a:ext cx="1997640" cy="3385831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DDE3DE"/>
            </a:solidFill>
            <a:prstDash val="solid"/>
          </a:ln>
        </p:spPr>
        <p:txBody>
          <a:bodyPr/>
          <a:p>
            <a:endParaRPr sz="1865"/>
          </a:p>
        </p:txBody>
      </p:sp>
      <p:sp>
        <p:nvSpPr>
          <p:cNvPr id="71" name="圆角矩形 70"/>
          <p:cNvSpPr/>
          <p:nvPr/>
        </p:nvSpPr>
        <p:spPr>
          <a:xfrm>
            <a:off x="9515689" y="1828349"/>
            <a:ext cx="1997640" cy="3385831"/>
          </a:xfrm>
          <a:prstGeom prst="roundRect">
            <a:avLst>
              <a:gd name="adj" fmla="val 4376"/>
            </a:avLst>
          </a:prstGeom>
          <a:solidFill>
            <a:srgbClr val="FFFFFF"/>
          </a:solidFill>
          <a:ln w="9525">
            <a:solidFill>
              <a:srgbClr val="DDE3DE"/>
            </a:solidFill>
            <a:prstDash val="solid"/>
          </a:ln>
        </p:spPr>
        <p:txBody>
          <a:bodyPr/>
          <a:p>
            <a:endParaRPr sz="1865"/>
          </a:p>
        </p:txBody>
      </p:sp>
      <p:sp>
        <p:nvSpPr>
          <p:cNvPr id="72" name="矩形 71"/>
          <p:cNvSpPr/>
          <p:nvPr/>
        </p:nvSpPr>
        <p:spPr>
          <a:xfrm>
            <a:off x="712529" y="474016"/>
            <a:ext cx="5078746" cy="220079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en-US" altLang="zh-CN" sz="1200">
                <a:solidFill>
                  <a:srgbClr val="8A8F94"/>
                </a:solidFill>
                <a:latin typeface="Arial" panose="020B0604020202020204"/>
                <a:ea typeface="Arial" panose="020B0604020202020204"/>
              </a:rPr>
              <a:t>11</a:t>
            </a:r>
            <a:r>
              <a:rPr lang="zh-CN" sz="1200">
                <a:solidFill>
                  <a:srgbClr val="8A8F94"/>
                </a:solidFill>
                <a:latin typeface="Arial" panose="020B0604020202020204"/>
                <a:ea typeface="Arial" panose="020B0604020202020204"/>
              </a:rPr>
              <a:t> /  TEAM</a:t>
            </a:r>
            <a:endParaRPr lang="zh-CN" sz="1200">
              <a:solidFill>
                <a:srgbClr val="8A8F94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712529" y="744883"/>
            <a:ext cx="10834658" cy="507875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2665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五人分工：一人一线，接口对齐，并行不撞车</a:t>
            </a:r>
            <a:endParaRPr lang="zh-CN" sz="2665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矩形 73"/>
          <p:cNvSpPr/>
          <p:nvPr/>
        </p:nvSpPr>
        <p:spPr>
          <a:xfrm>
            <a:off x="898750" y="2031498"/>
            <a:ext cx="1625199" cy="220079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角色 A</a:t>
            </a:r>
            <a:endParaRPr lang="zh-CN" sz="120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898750" y="2285436"/>
            <a:ext cx="1625199" cy="60945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项目经理
与演示主导</a:t>
            </a:r>
            <a:endParaRPr lang="zh-CN" sz="1600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898750" y="2979531"/>
            <a:ext cx="1625199" cy="1252757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2E3238"/>
                </a:solidFill>
                <a:latin typeface="微软雅黑" panose="020B0503020204020204" charset="-122"/>
                <a:ea typeface="微软雅黑" panose="020B0503020204020204" charset="-122"/>
              </a:rPr>
              <a:t>需求梳理与里程碑
答辩脚本与 PPT 大纲
README 与部署文档
一致性把关</a:t>
            </a:r>
            <a:endParaRPr lang="zh-CN" sz="1200">
              <a:solidFill>
                <a:srgbClr val="2E32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898750" y="4333863"/>
            <a:ext cx="1625199" cy="711024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65">
                <a:solidFill>
                  <a:srgbClr val="8A8F94"/>
                </a:solidFill>
                <a:latin typeface="微软雅黑" panose="020B0503020204020204" charset="-122"/>
                <a:ea typeface="微软雅黑" panose="020B0503020204020204" charset="-122"/>
              </a:rPr>
              <a:t>交付：演示脚本 ·
PPT 大纲 · 总览 README</a:t>
            </a:r>
            <a:endParaRPr lang="zh-CN" sz="1065">
              <a:solidFill>
                <a:srgbClr val="8A8F9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3099540" y="2031498"/>
            <a:ext cx="1625199" cy="220079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角色 B</a:t>
            </a:r>
            <a:endParaRPr lang="zh-CN" sz="120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3099540" y="2285436"/>
            <a:ext cx="1625199" cy="60945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后端实现
负责人</a:t>
            </a:r>
            <a:endParaRPr lang="zh-CN" sz="1600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3099540" y="2979531"/>
            <a:ext cx="1625199" cy="1252757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2E3238"/>
                </a:solidFill>
                <a:latin typeface="微软雅黑" panose="020B0503020204020204" charset="-122"/>
                <a:ea typeface="微软雅黑" panose="020B0503020204020204" charset="-122"/>
              </a:rPr>
              <a:t>API 与检索推理网关
知识库对接与容错
接口文档与集成测试</a:t>
            </a:r>
            <a:endParaRPr lang="zh-CN" sz="1200">
              <a:solidFill>
                <a:srgbClr val="2E32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3099540" y="4333863"/>
            <a:ext cx="1625199" cy="711024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65">
                <a:solidFill>
                  <a:srgbClr val="8A8F94"/>
                </a:solidFill>
                <a:latin typeface="微软雅黑" panose="020B0503020204020204" charset="-122"/>
                <a:ea typeface="微软雅黑" panose="020B0503020204020204" charset="-122"/>
              </a:rPr>
              <a:t>交付：后端代码 ·
API 文档 · 部署说明</a:t>
            </a:r>
            <a:endParaRPr lang="zh-CN" sz="1065">
              <a:solidFill>
                <a:srgbClr val="8A8F9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5300330" y="2031498"/>
            <a:ext cx="1625199" cy="220079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角色 C</a:t>
            </a:r>
            <a:endParaRPr lang="zh-CN" sz="120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5300330" y="2285436"/>
            <a:ext cx="1625199" cy="60945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知识库与
数据管线</a:t>
            </a:r>
            <a:endParaRPr lang="zh-CN" sz="1600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5300330" y="2979531"/>
            <a:ext cx="1625199" cy="1252757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2E3238"/>
                </a:solidFill>
                <a:latin typeface="微软雅黑" panose="020B0503020204020204" charset="-122"/>
                <a:ea typeface="微软雅黑" panose="020B0503020204020204" charset="-122"/>
              </a:rPr>
              <a:t>爬虫采集与清洗切片
向量化与检索接口
增量更新与数据规范</a:t>
            </a:r>
            <a:endParaRPr lang="zh-CN" sz="1200">
              <a:solidFill>
                <a:srgbClr val="2E32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矩形 84"/>
          <p:cNvSpPr/>
          <p:nvPr/>
        </p:nvSpPr>
        <p:spPr>
          <a:xfrm>
            <a:off x="5300330" y="4333863"/>
            <a:ext cx="1625199" cy="711024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65">
                <a:solidFill>
                  <a:srgbClr val="8A8F94"/>
                </a:solidFill>
                <a:latin typeface="微软雅黑" panose="020B0503020204020204" charset="-122"/>
                <a:ea typeface="微软雅黑" panose="020B0503020204020204" charset="-122"/>
              </a:rPr>
              <a:t>交付：知识条目 30 条 ·
数据字典 · 管线脚本</a:t>
            </a:r>
            <a:endParaRPr lang="zh-CN" sz="1065">
              <a:solidFill>
                <a:srgbClr val="8A8F9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7501120" y="2031498"/>
            <a:ext cx="1625199" cy="220079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角色 D</a:t>
            </a:r>
            <a:endParaRPr lang="zh-CN" sz="120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矩形 86"/>
          <p:cNvSpPr/>
          <p:nvPr/>
        </p:nvSpPr>
        <p:spPr>
          <a:xfrm>
            <a:off x="7501120" y="2285436"/>
            <a:ext cx="1625199" cy="60945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AI / RAG
与对话逻辑</a:t>
            </a:r>
            <a:endParaRPr lang="zh-CN" sz="1600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矩形 87"/>
          <p:cNvSpPr/>
          <p:nvPr/>
        </p:nvSpPr>
        <p:spPr>
          <a:xfrm>
            <a:off x="7501120" y="2979531"/>
            <a:ext cx="1625199" cy="1252757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2E3238"/>
                </a:solidFill>
                <a:latin typeface="微软雅黑" panose="020B0503020204020204" charset="-122"/>
                <a:ea typeface="微软雅黑" panose="020B0503020204020204" charset="-122"/>
              </a:rPr>
              <a:t>缺素识别核心逻辑
多候选与置信度排序
对话流与输出模板</a:t>
            </a:r>
            <a:endParaRPr lang="zh-CN" sz="1200">
              <a:solidFill>
                <a:srgbClr val="2E32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7501120" y="4333863"/>
            <a:ext cx="1625199" cy="711024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65">
                <a:solidFill>
                  <a:srgbClr val="8A8F94"/>
                </a:solidFill>
                <a:latin typeface="微软雅黑" panose="020B0503020204020204" charset="-122"/>
                <a:ea typeface="微软雅黑" panose="020B0503020204020204" charset="-122"/>
              </a:rPr>
              <a:t>交付：RAG 核心实现 ·
输出模板 · 测试用例</a:t>
            </a:r>
            <a:endParaRPr lang="zh-CN" sz="1065">
              <a:solidFill>
                <a:srgbClr val="8A8F9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矩形 89"/>
          <p:cNvSpPr/>
          <p:nvPr/>
        </p:nvSpPr>
        <p:spPr>
          <a:xfrm>
            <a:off x="9701910" y="2031498"/>
            <a:ext cx="1625199" cy="220079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角色 E</a:t>
            </a:r>
            <a:endParaRPr lang="zh-CN" sz="1200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9701910" y="2285436"/>
            <a:ext cx="1625199" cy="60945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600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前端与
演示集成</a:t>
            </a:r>
            <a:endParaRPr lang="zh-CN" sz="1600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9701910" y="2979531"/>
            <a:ext cx="1625199" cy="1252757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200">
                <a:solidFill>
                  <a:srgbClr val="2E3238"/>
                </a:solidFill>
                <a:latin typeface="微软雅黑" panose="020B0503020204020204" charset="-122"/>
                <a:ea typeface="微软雅黑" panose="020B0503020204020204" charset="-122"/>
              </a:rPr>
              <a:t>前端页面与 API 对接
结果卡片信息完整
演示样例与录屏整理</a:t>
            </a:r>
            <a:endParaRPr lang="zh-CN" sz="1200">
              <a:solidFill>
                <a:srgbClr val="2E323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9701910" y="4333863"/>
            <a:ext cx="1625199" cy="711024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065">
                <a:solidFill>
                  <a:srgbClr val="8A8F94"/>
                </a:solidFill>
                <a:latin typeface="微软雅黑" panose="020B0503020204020204" charset="-122"/>
                <a:ea typeface="微软雅黑" panose="020B0503020204020204" charset="-122"/>
              </a:rPr>
              <a:t>交付：前端代码 ·
对接文档 · 截图视频</a:t>
            </a:r>
            <a:endParaRPr lang="zh-CN" sz="1065">
              <a:solidFill>
                <a:srgbClr val="8A8F9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881821" y="5671266"/>
            <a:ext cx="10428358" cy="372441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1465">
                <a:solidFill>
                  <a:srgbClr val="1B5E20"/>
                </a:solidFill>
                <a:latin typeface="微软雅黑" panose="020B0503020204020204" charset="-122"/>
                <a:ea typeface="微软雅黑" panose="020B0503020204020204" charset="-122"/>
              </a:rPr>
              <a:t>协作机制：一人一分支 → 提 PR → 交叉 review 后合入 main；接口以 docs/知识库接口契约.md 为准，并行不冲突</a:t>
            </a:r>
            <a:endParaRPr lang="zh-CN" sz="1465">
              <a:solidFill>
                <a:srgbClr val="1B5E2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712529" y="6297645"/>
            <a:ext cx="10496075" cy="203150"/>
          </a:xfrm>
          <a:prstGeom prst="rect">
            <a:avLst/>
          </a:prstGeom>
          <a:noFill/>
          <a:ln>
            <a:noFill/>
          </a:ln>
        </p:spPr>
        <p:txBody>
          <a:bodyPr/>
          <a:p>
            <a:r>
              <a:rPr lang="zh-CN" sz="935">
                <a:solidFill>
                  <a:srgbClr val="8A8F94"/>
                </a:solidFill>
                <a:latin typeface="微软雅黑" panose="020B0503020204020204" charset="-122"/>
                <a:ea typeface="微软雅黑" panose="020B0503020204020204" charset="-122"/>
              </a:rPr>
              <a:t>来源：团队分工与仓库分支记录，2026-10-21；分支 main / wuhuan-dev / liuxi / lixinglin / lixingxin</a:t>
            </a:r>
            <a:endParaRPr lang="zh-CN" sz="935">
              <a:solidFill>
                <a:srgbClr val="8A8F9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5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711200" y="4572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A8F94"/>
                </a:solidFill>
                <a:latin typeface="Roboto Mono"/>
                <a:ea typeface="Roboto Mono"/>
                <a:cs typeface="Roboto Mono"/>
                <a:sym typeface="Roboto Mono"/>
              </a:rPr>
              <a:t>12 / SUMMARY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711200" y="8382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96000"/>
              </a:lnSpc>
              <a:defRPr/>
            </a:pPr>
            <a:r>
              <a:rPr lang="en-US" sz="26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从“识别缺素”到“科学施肥”：一个可落地的农业智能体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53">
            <a:off x="711204" y="1543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711200" y="1778000"/>
            <a:ext cx="50292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三个结论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11200" y="2159000"/>
            <a:ext cx="5029200" cy="2235200"/>
          </a:xfrm>
          <a:prstGeom prst="roundRect">
            <a:avLst>
              <a:gd name="adj" fmla="val 34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914400" y="2311400"/>
            <a:ext cx="4648200" cy="193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知识库自建可追溯：爬虫采集 + 专家种子双保障，检索零依赖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识别 → 建议 → 风险 → 科普闭环：无 Key 也能完整演示</a:t>
            </a:r>
            <a:endParaRPr lang="en-US" sz="12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思政自然融入：随业务输出，不弹窗、不打断操作</a:t>
            </a:r>
            <a:endParaRPr lang="en-US" sz="12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6350000" y="1778000"/>
            <a:ext cx="51308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下一步规划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159000"/>
            <a:ext cx="5130800" cy="2235200"/>
          </a:xfrm>
          <a:prstGeom prst="roundRect">
            <a:avLst>
              <a:gd name="adj" fmla="val 3409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E7D3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6553200" y="2311400"/>
            <a:ext cx="4724400" cy="1930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叶片照片识别：接入视觉模型，拍叶诊断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多轮追问对话：基于检索结果连续追问</a:t>
            </a:r>
            <a:endParaRPr lang="en-US" sz="12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区域化数据：扩展作物与各地土壤数据</a:t>
            </a:r>
            <a:endParaRPr lang="en-US" sz="12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</a:pPr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2E323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田间传感器：与物联网设备联动</a:t>
            </a:r>
            <a:endParaRPr lang="en-US" sz="1200" b="0" i="0" u="none" strike="noStrike">
              <a:solidFill>
                <a:srgbClr val="2E323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4053">
            <a:off x="711204" y="4718050"/>
            <a:ext cx="1076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DE3D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711200" y="4953000"/>
            <a:ext cx="10769600" cy="1066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3000"/>
              </a:lnSpc>
              <a:defRPr/>
            </a:pPr>
            <a:r>
              <a:rPr lang="en-US" sz="2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 AI 给农田做“体检”</a:t>
            </a:r>
            <a:endParaRPr lang="en-US" sz="1100"/>
          </a:p>
          <a:p>
            <a:pPr marL="0" indent="0" algn="ctr">
              <a:lnSpc>
                <a:spcPct val="113000"/>
              </a:lnSpc>
            </a:pPr>
            <a:r>
              <a:rPr lang="en-US" sz="2400" b="1" i="0" u="none" strike="noStrike">
                <a:solidFill>
                  <a:srgbClr val="1B5E2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科技助农 · 藏粮于技</a:t>
            </a:r>
            <a:endParaRPr lang="en-US" sz="2400" b="1" i="0" u="none" strike="noStrike">
              <a:solidFill>
                <a:srgbClr val="1B5E2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711200" y="6350000"/>
            <a:ext cx="107696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8A8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OHCP 农作物缺素症识别与科学施肥建议智能体 · 2026-10-21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6269</Words>
  <Application>WPS 演示</Application>
  <PresentationFormat/>
  <Paragraphs>591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Roboto Mono</vt:lpstr>
      <vt:lpstr>Segoe Print</vt:lpstr>
      <vt:lpstr>Cambria Math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奈斯.</cp:lastModifiedBy>
  <cp:revision>1</cp:revision>
  <dcterms:created xsi:type="dcterms:W3CDTF">2026-10-21T02:42:03Z</dcterms:created>
  <dcterms:modified xsi:type="dcterms:W3CDTF">2026-10-21T02:42:03Z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AFD57E44C06049859FB634621753E55E_13</vt:lpwstr>
  </property>
</Properties>
</file>